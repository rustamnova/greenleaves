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7789073cad44391" /><Relationship Type="http://schemas.openxmlformats.org/officeDocument/2006/relationships/extended-properties" Target="/docProps/app.xml" Id="Rf6c7c8fe375d49d0" /><Relationship Type="http://schemas.openxmlformats.org/officeDocument/2006/relationships/officeDocument" Target="/ppt/presentation.xml" Id="Rd77d054d597e4a2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bbf8c41288f46fe"/>
  </p:sldMasterIdLst>
  <p:notesMasterIdLst>
    <p:notesMasterId xmlns:r="http://schemas.openxmlformats.org/officeDocument/2006/relationships" r:id="R24fc47a2d2cc43d3"/>
  </p:notesMasterIdLst>
  <p:sldIdLst>
    <p:sldId xmlns:r="http://schemas.openxmlformats.org/officeDocument/2006/relationships" id="256" r:id="R065f3532ab5b458c"/>
    <p:sldId xmlns:r="http://schemas.openxmlformats.org/officeDocument/2006/relationships" id="257" r:id="R5a8030edfc5d4acb"/>
    <p:sldId xmlns:r="http://schemas.openxmlformats.org/officeDocument/2006/relationships" id="258" r:id="Rd3f270d974f14e67"/>
    <p:sldId xmlns:r="http://schemas.openxmlformats.org/officeDocument/2006/relationships" id="259" r:id="R6982d42087694db2"/>
    <p:sldId xmlns:r="http://schemas.openxmlformats.org/officeDocument/2006/relationships" id="260" r:id="R1c41d930bc9c4c8c"/>
    <p:sldId xmlns:r="http://schemas.openxmlformats.org/officeDocument/2006/relationships" id="261" r:id="Ra044321721694d9a"/>
    <p:sldId xmlns:r="http://schemas.openxmlformats.org/officeDocument/2006/relationships" id="262" r:id="R2672111df05e43b3"/>
    <p:sldId xmlns:r="http://schemas.openxmlformats.org/officeDocument/2006/relationships" id="263" r:id="R26bf6ad6d87a4b56"/>
    <p:sldId xmlns:r="http://schemas.openxmlformats.org/officeDocument/2006/relationships" id="264" r:id="R65558f55f2a14221"/>
    <p:sldId xmlns:r="http://schemas.openxmlformats.org/officeDocument/2006/relationships" id="265" r:id="R799f5984290f4947"/>
    <p:sldId xmlns:r="http://schemas.openxmlformats.org/officeDocument/2006/relationships" id="266" r:id="Rcf0a05a921034521"/>
    <p:sldId xmlns:r="http://schemas.openxmlformats.org/officeDocument/2006/relationships" id="267" r:id="Rbe9bbd9bc1274ebc"/>
    <p:sldId xmlns:r="http://schemas.openxmlformats.org/officeDocument/2006/relationships" id="268" r:id="Rb6c478a7fb354cf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5618ee305294ec3" /><Relationship Type="http://schemas.openxmlformats.org/officeDocument/2006/relationships/slideMaster" Target="/ppt/slideMasters/slideMaster1.xml" Id="Rabbf8c41288f46fe" /><Relationship Type="http://schemas.openxmlformats.org/officeDocument/2006/relationships/notesMaster" Target="/ppt/notesMasters/notesMaster1.xml" Id="R24fc47a2d2cc43d3" /><Relationship Type="http://schemas.openxmlformats.org/officeDocument/2006/relationships/presProps" Target="/ppt/presProps.xml" Id="Rb272cf9ddce243b4" /><Relationship Type="http://schemas.openxmlformats.org/officeDocument/2006/relationships/viewProps" Target="/ppt/viewProps.xml" Id="Rd68d588feaf2410d" /><Relationship Type="http://schemas.openxmlformats.org/officeDocument/2006/relationships/tableStyles" Target="/ppt/tableStyles.xml" Id="R97e1d9a7c6e04e02" /><Relationship Type="http://schemas.openxmlformats.org/officeDocument/2006/relationships/slide" Target="/ppt/slides/slide1.xml" Id="R065f3532ab5b458c" /><Relationship Type="http://schemas.openxmlformats.org/officeDocument/2006/relationships/slide" Target="/ppt/slides/slide2.xml" Id="R5a8030edfc5d4acb" /><Relationship Type="http://schemas.openxmlformats.org/officeDocument/2006/relationships/slide" Target="/ppt/slides/slide3.xml" Id="Rd3f270d974f14e67" /><Relationship Type="http://schemas.openxmlformats.org/officeDocument/2006/relationships/slide" Target="/ppt/slides/slide4.xml" Id="R6982d42087694db2" /><Relationship Type="http://schemas.openxmlformats.org/officeDocument/2006/relationships/slide" Target="/ppt/slides/slide5.xml" Id="R1c41d930bc9c4c8c" /><Relationship Type="http://schemas.openxmlformats.org/officeDocument/2006/relationships/slide" Target="/ppt/slides/slide6.xml" Id="Ra044321721694d9a" /><Relationship Type="http://schemas.openxmlformats.org/officeDocument/2006/relationships/slide" Target="/ppt/slides/slide7.xml" Id="R2672111df05e43b3" /><Relationship Type="http://schemas.openxmlformats.org/officeDocument/2006/relationships/slide" Target="/ppt/slides/slide8.xml" Id="R26bf6ad6d87a4b56" /><Relationship Type="http://schemas.openxmlformats.org/officeDocument/2006/relationships/slide" Target="/ppt/slides/slide9.xml" Id="R65558f55f2a14221" /><Relationship Type="http://schemas.openxmlformats.org/officeDocument/2006/relationships/slide" Target="/ppt/slides/slide10.xml" Id="R799f5984290f4947" /><Relationship Type="http://schemas.openxmlformats.org/officeDocument/2006/relationships/slide" Target="/ppt/slides/slide11.xml" Id="Rcf0a05a921034521" /><Relationship Type="http://schemas.openxmlformats.org/officeDocument/2006/relationships/slide" Target="/ppt/slides/slide12.xml" Id="Rbe9bbd9bc1274ebc" /><Relationship Type="http://schemas.openxmlformats.org/officeDocument/2006/relationships/slide" Target="/ppt/slides/slide13.xml" Id="Rb6c478a7fb354cf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37a739d816e408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9c550a3f05f496b" /><Relationship Type="http://schemas.openxmlformats.org/officeDocument/2006/relationships/notesMaster" Target="/ppt/notesMasters/notesMaster1.xml" Id="R577d2c7fc9e2445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a2456ce79b44701" /><Relationship Type="http://schemas.openxmlformats.org/officeDocument/2006/relationships/notesMaster" Target="/ppt/notesMasters/notesMaster1.xml" Id="R45c62e91945744a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94dd83d296747f7" /><Relationship Type="http://schemas.openxmlformats.org/officeDocument/2006/relationships/notesMaster" Target="/ppt/notesMasters/notesMaster1.xml" Id="R00320cc03cc140a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9313c7a23904c06" /><Relationship Type="http://schemas.openxmlformats.org/officeDocument/2006/relationships/notesMaster" Target="/ppt/notesMasters/notesMaster1.xml" Id="R31c78d5b416b48a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cdf5f22269c4022" /><Relationship Type="http://schemas.openxmlformats.org/officeDocument/2006/relationships/notesMaster" Target="/ppt/notesMasters/notesMaster1.xml" Id="R2d6c3d19647f489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a2c064c76634d76" /><Relationship Type="http://schemas.openxmlformats.org/officeDocument/2006/relationships/notesMaster" Target="/ppt/notesMasters/notesMaster1.xml" Id="Rc373bc438fbe413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dcaeeb4e0f74b99" /><Relationship Type="http://schemas.openxmlformats.org/officeDocument/2006/relationships/notesMaster" Target="/ppt/notesMasters/notesMaster1.xml" Id="Rd19ea3e2135f4fe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6682871928f4f2a" /><Relationship Type="http://schemas.openxmlformats.org/officeDocument/2006/relationships/notesMaster" Target="/ppt/notesMasters/notesMaster1.xml" Id="R6c2277dd7c87468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64284f3e0d147d3" /><Relationship Type="http://schemas.openxmlformats.org/officeDocument/2006/relationships/notesMaster" Target="/ppt/notesMasters/notesMaster1.xml" Id="Re44e153db5d44ab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a76d03bd74745a6" /><Relationship Type="http://schemas.openxmlformats.org/officeDocument/2006/relationships/notesMaster" Target="/ppt/notesMasters/notesMaster1.xml" Id="R3ffdb611171c492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e59ac45e914427b" /><Relationship Type="http://schemas.openxmlformats.org/officeDocument/2006/relationships/notesMaster" Target="/ppt/notesMasters/notesMaster1.xml" Id="Ra7c9567402634fa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7171436c51e4fdc" /><Relationship Type="http://schemas.openxmlformats.org/officeDocument/2006/relationships/notesMaster" Target="/ppt/notesMasters/notesMaster1.xml" Id="R36d5d0733c124b7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e7aa3a41c0d4cd7" /><Relationship Type="http://schemas.openxmlformats.org/officeDocument/2006/relationships/notesMaster" Target="/ppt/notesMasters/notesMaster1.xml" Id="Re367f54fd8d9426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Версия для предварительного обсуждения, 28.09.2026. Название проекта: Greenleaves. Полные данные команды необходимо подтвердить перед подачей. Источник оформления: официальный шаблон https://mostech-cloud.mos.ru/apps/ditdocuments/s/bnxfqRnTp3c7eke?fileId=435975367 , исходный слайд 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Продукт и функции: https://github.com/rustamnova/greenleaves , site/studio/engine.js, scripts/cli.mjs. Из переписки известны два участника. Капитан, специальности и город не подтверждены. Исходный обязательный слайд 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Сохраняется исходная структура пяти карточек обязательного слайда 9. Известны два участника, поэтому три карточки не обозначают вымышленных людей. Фотографии, полные ФИО Рустама, контакты в мессенджере, телефоны и места работы требуют заполнения владельцем. GitHub-идентификаторы приведены вместо неподтверждённых мессенджеров. Роли описывают наблюдаемый вклад по предоставленной переписке.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История и мотивация: предоставленная пользователем переписка и задачи. Не утверждаем участие команды в прошлых хакатонах. Текущий реальный прогон пока блокируется пустыми REGION. Исходный обязательный слайд 10.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Реализован детерминированный алгоритм без обученной нейросети. Расстояния пока проектные допущения. Бизнес-модель и экономический эффект не проверены. Исходный обязательный слайд 11.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Потребность сформулирована по ТЗ задачи №3. Ускорение работы является гипотезой до измерения на согласованном пилоте.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Работающий прототип: https://rustamnova.github.io/greenleaves/studio/?demo=1 . Встроенный пример синтетический. Он не является результатом проверки датасета 20 улиц.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Локальная проверка 28.09.2026: .private/pilot-3park/prepared/preparation-audit.json. Число 2490 относится ко всей разобранной подоснове, а не только выбранному фрагменту. Для пустых REGION нельзя определить безопасные границы влияния. Официальный архив 11 468 203 206 байт, 3132 фактических файла после исключения служебных записей. Исходник: https://mostech-cloud.mos.ru/s/EpPFwWqDk3k82qp . Пароль и реальные CAD не публикуются.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Команды: node --test tests/*.test.mjs; python -m unittest discover -s tests -p test_prepare_cad.py. Проверки синтетических геометрических случаев не равны проверке 20 улиц. Сохранение сущностей относится к экспортируемому согласованному DXF, а не к гарантии безошибочной DWG-конвертации.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Исходники: scripts/prepare-cad.py, site/studio/engine.js, scripts/cli.mjs, site/studio/app.js. DWG требует отдельного проверенного конвертера. Серверный API и обучение модели отсутствуют. Docker/Linux пока не проверены.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пилота и показатели являются предложением команды. Платящих клиентов, выручку, процент экономии времени и коммерческие договорённости не заявляем.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Московский пилот не завершён. Дубай является направлением будущего исследования по запросу пользователя. Применимость московских численных отступов в Дубае не предполагается. Прогнозов снижения температуры и водопотребления нет.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Публичные ссылки на синтетическую демонстрацию. Реальные CAD, частная переписка, пароли и личные телефоны в публичный пакет не включаются. Обсуждаемые ограничения: полнота реального CAD и нормативная верификация.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0b004cd8c246ad" /><Relationship Type="http://schemas.openxmlformats.org/officeDocument/2006/relationships/image" Target="/ppt/media/image2.png" Id="R9c1ad915151a4b3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926d5427d047f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0a0ecd567e495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bed1d974d54b4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e32b12ca13437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de20dee955455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74f3a5f7884fc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6f0076a1024e1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090843644049a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7d4515625641f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18b06e3ca84262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8269e0016c4db1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4c007c65fd4d7e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1f8056a7704ded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6dcbbf56294436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fc6d9f628f446e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86fffb7617424d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e571b9268d4816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7dcdd4c7c94289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743b69ab204c73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46f4ce31084e8e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a1b0cd33f245c3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3caf80ed5a45a8" /></Relationships>
</file>

<file path=ppt/slideLayouts/slideLayout1.xml><?xml version="1.0" encoding="utf-8"?>
<p:sldLayout xmlns:p="http://schemas.openxmlformats.org/presentationml/2006/main" preserve="1" userDrawn="1">
  <p:cSld name="Титульный слайд">
    <p:bg>
      <p:bgPr>
        <a:blipFill xmlns:a="http://schemas.openxmlformats.org/drawingml/2006/main" rotWithShape="1">
          <a:blip xmlns:r="http://schemas.openxmlformats.org/officeDocument/2006/relationships" r:embed="R9c1ad915151a4b3b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792000" y="395288"/>
            <a:ext cx="5400000" cy="5400000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Иконка задачи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0" y="4323440"/>
            <a:ext cx="8930641" cy="8270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>
            <a:lvl1pPr marL="0" indent="712788"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НАЗВАНИЕ КОМАНДЫ</a:t>
            </a:r>
          </a:p>
        </p:txBody>
      </p:sp>
      <p:sp>
        <p:nvSpPr>
          <p:cNvPr id="42" name="Рисунок 41">
            <a:extLst xmlns:a="http://schemas.openxmlformats.org/drawingml/2006/main"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xmlns:a="http://schemas.openxmlformats.org/drawingml/2006/main" noGrp="1"/>
          </p:cNvSpPr>
          <p:nvPr>
            <p:ph type="pic" idx="11" hasCustomPrompt="1"/>
          </p:nvPr>
        </p:nvSpPr>
        <p:spPr>
          <a:xfrm xmlns:a="http://schemas.openxmlformats.org/drawingml/2006/main">
            <a:off x="802640" y="2911980"/>
            <a:ext cx="3386773" cy="1082589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Логотип/логотипы постановщика задачи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xmlns:a="http://schemas.openxmlformats.org/drawingml/2006/main" noGrp="1"/>
          </p:cNvSpPr>
          <p:nvPr>
            <p:ph type="body" idx="12" hasCustomPrompt="1"/>
          </p:nvPr>
        </p:nvSpPr>
        <p:spPr>
          <a:xfrm xmlns:a="http://schemas.openxmlformats.org/drawingml/2006/main">
            <a:off x="0" y="5149851"/>
            <a:ext cx="8930641" cy="757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712788">
              <a:buNone/>
              <a:defRPr sz="1800"/>
            </a:lvl1pPr>
          </a:lstStyle>
          <a:p xmlns:a="http://schemas.openxmlformats.org/drawingml/2006/main">
            <a:r>
              <a:rPr sz="1600" b="0"/>
              <a:t>Номер и название задачи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894095" y="1044081"/>
            <a:ext cx="4962943" cy="2221824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Фото команды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67EB9651-F031-4963-AFE9-33BCC0E88757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4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  <p:sp>
        <p:nvSpPr>
          <p:cNvPr id="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xmlns:a="http://schemas.openxmlformats.org/drawingml/2006/main" noGrp="1"/>
          </p:cNvSpPr>
          <p:nvPr>
            <p:ph type="body" idx="27" hasCustomPrompt="1"/>
          </p:nvPr>
        </p:nvSpPr>
        <p:spPr>
          <a:xfrm xmlns:a="http://schemas.openxmlformats.org/drawingml/2006/main">
            <a:off x="806323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3014568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5191192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7366644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9542096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Дата 3">
            <a:extLst xmlns:a="http://schemas.openxmlformats.org/drawingml/2006/main"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1021F813-DBA1-42EC-A748-A9CC16659E6B}" type="datetime1">
              <a:t>14.09.2026</a:t>
            </a:fld>
            <a:endParaRPr/>
          </a:p>
        </p:txBody>
      </p:sp>
      <p:sp>
        <p:nvSpPr>
          <p:cNvPr id="10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1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1" name="Дата 3">
            <a:extLst xmlns:a="http://schemas.openxmlformats.org/drawingml/2006/main"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7DE2642A-6018-4CC1-81AB-5FD8D2782D4F}" type="datetime1">
              <a:t>14.09.2026</a:t>
            </a:fld>
            <a:endParaRPr/>
          </a:p>
        </p:txBody>
      </p:sp>
      <p:sp>
        <p:nvSpPr>
          <p:cNvPr id="22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3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87" y="1016001"/>
            <a:ext cx="5704418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6" y="1016001"/>
            <a:ext cx="5670473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4" name="Дата 3">
            <a:extLst xmlns:a="http://schemas.openxmlformats.org/drawingml/2006/main"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3014BBE-C503-4380-A869-5EE8294FE947}" type="datetime1">
              <a:t>14.09.2026</a:t>
            </a:fld>
            <a:endParaRPr/>
          </a:p>
        </p:txBody>
      </p:sp>
      <p:sp>
        <p:nvSpPr>
          <p:cNvPr id="1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7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86" y="1015427"/>
            <a:ext cx="5682193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9334" y="1598615"/>
            <a:ext cx="5648250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5" y="1015427"/>
            <a:ext cx="5684841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2" y="1598615"/>
            <a:ext cx="5670473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2" name="Дата 3">
            <a:extLst xmlns:a="http://schemas.openxmlformats.org/drawingml/2006/main"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D568497-304A-497F-ADAE-97D3CF462C1C}" type="datetime1">
              <a:t>14.09.2026</a:t>
            </a:fld>
            <a:endParaRPr/>
          </a:p>
        </p:txBody>
      </p:sp>
      <p:sp>
        <p:nvSpPr>
          <p:cNvPr id="13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4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334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2CB240C-04A3-49D4-83F9-87A9C6C414DC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34966" y="1015999"/>
            <a:ext cx="4437062" cy="121341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94" y="1015999"/>
            <a:ext cx="6673847" cy="504952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773"/>
            </a:lvl1pPr>
            <a:lvl2pPr>
              <a:buNone/>
              <a:defRPr sz="1520"/>
            </a:lvl2pPr>
            <a:lvl3pPr>
              <a:buNone/>
              <a:defRPr sz="1266"/>
            </a:lvl3pPr>
            <a:lvl4pPr>
              <a:buNone/>
              <a:defRPr sz="1141"/>
            </a:lvl4pPr>
            <a:lvl5pPr>
              <a:buNone/>
              <a:defRPr sz="1141"/>
            </a:lvl5pPr>
            <a:lvl6pPr>
              <a:buNone/>
              <a:defRPr sz="1266"/>
            </a:lvl6pPr>
            <a:lvl7pPr>
              <a:buNone/>
              <a:defRPr sz="1266"/>
            </a:lvl7pPr>
            <a:lvl8pPr>
              <a:buNone/>
              <a:defRPr sz="1266"/>
            </a:lvl8pPr>
            <a:lvl9pPr>
              <a:buNone/>
              <a:defRPr sz="1266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34966" y="2428239"/>
            <a:ext cx="4437062" cy="363728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8" name="Дата 3">
            <a:extLst xmlns:a="http://schemas.openxmlformats.org/drawingml/2006/main"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E74468B-3512-454B-AB51-7AE95604D39E}" type="datetime1">
              <a:t>14.09.2026</a:t>
            </a:fld>
            <a:endParaRPr/>
          </a:p>
        </p:txBody>
      </p:sp>
      <p:sp>
        <p:nvSpPr>
          <p:cNvPr id="9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0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BAB2196-A440-4E25-B9FF-D0ADB01B1A15}" type="datetime1">
              <a:t>14.09.2026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802640" y="3922529"/>
            <a:ext cx="5293359" cy="1654542"/>
          </a:xfrm>
        </p:spPr>
        <p:txBody>
          <a:bodyPr xmlns:a="http://schemas.openxmlformats.org/drawingml/2006/main" anchor="ctr"/>
          <a:lstStyle xmlns:a="http://schemas.openxmlformats.org/drawingml/2006/main">
            <a:lvl1pPr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8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7BAE699-64F9-49EF-B784-2DEF2B221955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1873541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2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xmlns:a="http://schemas.openxmlformats.org/drawingml/2006/main" noGrp="1"/>
          </p:cNvSpPr>
          <p:nvPr>
            <p:ph type="body" idx="38" hasCustomPrompt="1"/>
          </p:nvPr>
        </p:nvSpPr>
        <p:spPr>
          <a:xfrm xmlns:a="http://schemas.openxmlformats.org/drawingml/2006/main">
            <a:off x="1873544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3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1854185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4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xmlns:a="http://schemas.openxmlformats.org/drawingml/2006/main" noGrp="1"/>
          </p:cNvSpPr>
          <p:nvPr>
            <p:ph type="body" idx="40" hasCustomPrompt="1"/>
          </p:nvPr>
        </p:nvSpPr>
        <p:spPr>
          <a:xfrm xmlns:a="http://schemas.openxmlformats.org/drawingml/2006/main">
            <a:off x="1854185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5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xmlns:a="http://schemas.openxmlformats.org/drawingml/2006/main" noGrp="1"/>
          </p:cNvSpPr>
          <p:nvPr>
            <p:ph type="body" idx="41" hasCustomPrompt="1"/>
          </p:nvPr>
        </p:nvSpPr>
        <p:spPr>
          <a:xfrm xmlns:a="http://schemas.openxmlformats.org/drawingml/2006/main">
            <a:off x="1854185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6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xmlns:a="http://schemas.openxmlformats.org/drawingml/2006/main" noGrp="1"/>
          </p:cNvSpPr>
          <p:nvPr>
            <p:ph type="body" idx="42" hasCustomPrompt="1"/>
          </p:nvPr>
        </p:nvSpPr>
        <p:spPr>
          <a:xfrm xmlns:a="http://schemas.openxmlformats.org/drawingml/2006/main">
            <a:off x="1854185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xmlns:a="http://schemas.openxmlformats.org/drawingml/2006/main" noGrp="1"/>
          </p:cNvSpPr>
          <p:nvPr>
            <p:ph type="body" idx="43" hasCustomPrompt="1"/>
          </p:nvPr>
        </p:nvSpPr>
        <p:spPr>
          <a:xfrm xmlns:a="http://schemas.openxmlformats.org/drawingml/2006/main">
            <a:off x="7546648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1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xmlns:a="http://schemas.openxmlformats.org/drawingml/2006/main" noGrp="1"/>
          </p:cNvSpPr>
          <p:nvPr>
            <p:ph type="body" idx="44" hasCustomPrompt="1"/>
          </p:nvPr>
        </p:nvSpPr>
        <p:spPr>
          <a:xfrm xmlns:a="http://schemas.openxmlformats.org/drawingml/2006/main">
            <a:off x="7546651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xmlns:a="http://schemas.openxmlformats.org/drawingml/2006/main" noGrp="1"/>
          </p:cNvSpPr>
          <p:nvPr>
            <p:ph type="body" idx="45" hasCustomPrompt="1"/>
          </p:nvPr>
        </p:nvSpPr>
        <p:spPr>
          <a:xfrm xmlns:a="http://schemas.openxmlformats.org/drawingml/2006/main">
            <a:off x="7527292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3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xmlns:a="http://schemas.openxmlformats.org/drawingml/2006/main" noGrp="1"/>
          </p:cNvSpPr>
          <p:nvPr>
            <p:ph type="body" idx="46" hasCustomPrompt="1"/>
          </p:nvPr>
        </p:nvSpPr>
        <p:spPr>
          <a:xfrm xmlns:a="http://schemas.openxmlformats.org/drawingml/2006/main">
            <a:off x="7527292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4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xmlns:a="http://schemas.openxmlformats.org/drawingml/2006/main" noGrp="1"/>
          </p:cNvSpPr>
          <p:nvPr>
            <p:ph type="body" idx="47" hasCustomPrompt="1"/>
          </p:nvPr>
        </p:nvSpPr>
        <p:spPr>
          <a:xfrm xmlns:a="http://schemas.openxmlformats.org/drawingml/2006/main">
            <a:off x="7527292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5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xmlns:a="http://schemas.openxmlformats.org/drawingml/2006/main" noGrp="1"/>
          </p:cNvSpPr>
          <p:nvPr>
            <p:ph type="body" idx="48" hasCustomPrompt="1"/>
          </p:nvPr>
        </p:nvSpPr>
        <p:spPr>
          <a:xfrm xmlns:a="http://schemas.openxmlformats.org/drawingml/2006/main">
            <a:off x="7527292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xmlns:a="http://schemas.openxmlformats.org/drawingml/2006/main" noGrp="1"/>
          </p:cNvSpPr>
          <p:nvPr>
            <p:ph type="body" idx="49" hasCustomPrompt="1"/>
          </p:nvPr>
        </p:nvSpPr>
        <p:spPr>
          <a:xfrm xmlns:a="http://schemas.openxmlformats.org/drawingml/2006/main">
            <a:off x="778493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01</a:t>
            </a:r>
          </a:p>
        </p:txBody>
      </p:sp>
      <p:sp>
        <p:nvSpPr>
          <p:cNvPr id="28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xmlns:a="http://schemas.openxmlformats.org/drawingml/2006/main" noGrp="1"/>
          </p:cNvSpPr>
          <p:nvPr>
            <p:ph type="body" idx="50" hasCustomPrompt="1"/>
          </p:nvPr>
        </p:nvSpPr>
        <p:spPr>
          <a:xfrm xmlns:a="http://schemas.openxmlformats.org/drawingml/2006/main">
            <a:off x="759137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02</a:t>
            </a:r>
          </a:p>
        </p:txBody>
      </p:sp>
      <p:sp>
        <p:nvSpPr>
          <p:cNvPr id="29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xmlns:a="http://schemas.openxmlformats.org/drawingml/2006/main" noGrp="1"/>
          </p:cNvSpPr>
          <p:nvPr>
            <p:ph type="body" idx="51" hasCustomPrompt="1"/>
          </p:nvPr>
        </p:nvSpPr>
        <p:spPr>
          <a:xfrm xmlns:a="http://schemas.openxmlformats.org/drawingml/2006/main">
            <a:off x="759137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03</a:t>
            </a:r>
          </a:p>
        </p:txBody>
      </p:sp>
      <p:sp>
        <p:nvSpPr>
          <p:cNvPr id="3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xmlns:a="http://schemas.openxmlformats.org/drawingml/2006/main" noGrp="1"/>
          </p:cNvSpPr>
          <p:nvPr>
            <p:ph type="body" idx="52" hasCustomPrompt="1"/>
          </p:nvPr>
        </p:nvSpPr>
        <p:spPr>
          <a:xfrm xmlns:a="http://schemas.openxmlformats.org/drawingml/2006/main">
            <a:off x="6451600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04</a:t>
            </a:r>
          </a:p>
        </p:txBody>
      </p:sp>
      <p:sp>
        <p:nvSpPr>
          <p:cNvPr id="3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xmlns:a="http://schemas.openxmlformats.org/drawingml/2006/main" noGrp="1"/>
          </p:cNvSpPr>
          <p:nvPr>
            <p:ph type="body" idx="53" hasCustomPrompt="1"/>
          </p:nvPr>
        </p:nvSpPr>
        <p:spPr>
          <a:xfrm xmlns:a="http://schemas.openxmlformats.org/drawingml/2006/main">
            <a:off x="6432244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05</a:t>
            </a:r>
          </a:p>
        </p:txBody>
      </p:sp>
      <p:sp>
        <p:nvSpPr>
          <p:cNvPr id="3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xmlns:a="http://schemas.openxmlformats.org/drawingml/2006/main" noGrp="1"/>
          </p:cNvSpPr>
          <p:nvPr>
            <p:ph type="body" idx="54" hasCustomPrompt="1"/>
          </p:nvPr>
        </p:nvSpPr>
        <p:spPr>
          <a:xfrm xmlns:a="http://schemas.openxmlformats.org/drawingml/2006/main">
            <a:off x="6432244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06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AFA80CC-940E-479C-90C0-76DA923785E9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7268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Рисунок 7">
            <a:extLst xmlns:a="http://schemas.openxmlformats.org/drawingml/2006/main"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7440147" y="1016001"/>
            <a:ext cx="4405777" cy="307847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7440149" y="4389108"/>
            <a:ext cx="4405775" cy="181166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Рисунок 11">
            <a:extLst xmlns:a="http://schemas.openxmlformats.org/drawingml/2006/main"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xmlns:a="http://schemas.openxmlformats.org/drawingml/2006/main" noGrp="1"/>
          </p:cNvSpPr>
          <p:nvPr>
            <p:ph type="pic" idx="12"/>
          </p:nvPr>
        </p:nvSpPr>
        <p:spPr>
          <a:xfrm xmlns:a="http://schemas.openxmlformats.org/drawingml/2006/main">
            <a:off x="346075" y="3223948"/>
            <a:ext cx="6806142" cy="297682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346075" y="1016001"/>
            <a:ext cx="6806142" cy="20298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82A4DA7B-A7D8-4443-AD1C-4C7CDC678488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3" name="Текст 101">
            <a:extLst xmlns:a="http://schemas.openxmlformats.org/drawingml/2006/main"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1994303" y="2973742"/>
            <a:ext cx="2190810" cy="910516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Текст</a:t>
            </a:r>
          </a:p>
        </p:txBody>
      </p:sp>
      <p:sp>
        <p:nvSpPr>
          <p:cNvPr id="75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662924" y="158812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662924" y="244513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662924" y="3302147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62924" y="415915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662924" y="501616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4E505DF-C567-47F2-9374-60838F80010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26867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626932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807582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3407647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4584029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5184094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2938A0C3-5C2F-47B8-B008-79A49A1195B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53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BF4F29EB-DFD0-428E-8E89-ED117A3553E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7721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52F0272-0FEA-44CE-966E-3D169B2F53D4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84256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62B0DBE-B5A9-470E-85A9-7CC062D5339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7650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xmlns:a="http://schemas.openxmlformats.org/drawingml/2006/main" noGrp="1"/>
          </p:cNvSpPr>
          <p:nvPr>
            <p:ph type="body" idx="26" hasCustomPrompt="1"/>
          </p:nvPr>
        </p:nvSpPr>
        <p:spPr>
          <a:xfrm xmlns:a="http://schemas.openxmlformats.org/drawingml/2006/main">
            <a:off x="517027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Описание проблемы 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xmlns:a="http://schemas.openxmlformats.org/drawingml/2006/main" noGrp="1"/>
          </p:cNvSpPr>
          <p:nvPr>
            <p:ph type="body" idx="31" hasCustomPrompt="1"/>
          </p:nvPr>
        </p:nvSpPr>
        <p:spPr>
          <a:xfrm xmlns:a="http://schemas.openxmlformats.org/drawingml/2006/main">
            <a:off x="4464542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xmlns:a="http://schemas.openxmlformats.org/drawingml/2006/main" noGrp="1"/>
          </p:cNvSpPr>
          <p:nvPr>
            <p:ph type="body" idx="32" hasCustomPrompt="1"/>
          </p:nvPr>
        </p:nvSpPr>
        <p:spPr>
          <a:xfrm xmlns:a="http://schemas.openxmlformats.org/drawingml/2006/main">
            <a:off x="8385481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Ваше предложение решения данной проблемы</a:t>
            </a:r>
          </a:p>
        </p:txBody>
      </p:sp>
      <p:sp>
        <p:nvSpPr>
          <p:cNvPr id="18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517027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Проблема</a:t>
            </a:r>
          </a:p>
        </p:txBody>
      </p:sp>
      <p:sp>
        <p:nvSpPr>
          <p:cNvPr id="19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xmlns:a="http://schemas.openxmlformats.org/drawingml/2006/main" noGrp="1"/>
          </p:cNvSpPr>
          <p:nvPr>
            <p:ph type="body" idx="34" hasCustomPrompt="1"/>
          </p:nvPr>
        </p:nvSpPr>
        <p:spPr>
          <a:xfrm xmlns:a="http://schemas.openxmlformats.org/drawingml/2006/main">
            <a:off x="4464542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Альтернативные решения</a:t>
            </a:r>
          </a:p>
        </p:txBody>
      </p:sp>
      <p:sp>
        <p:nvSpPr>
          <p:cNvPr id="19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8385481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Решение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4162940" y="1264478"/>
            <a:ext cx="3866121" cy="2436377"/>
          </a:xfrm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D396B86-640F-4AD1-BBB2-E085B6CD877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346075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4240502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1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8230203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3AF0E63-1EB1-47F5-B09E-CA3E5DE528F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3289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10643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857950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210642" y="1577998"/>
            <a:ext cx="4121688" cy="2283975"/>
          </a:xfrm>
        </p:spPr>
      </p:sp>
      <p:sp>
        <p:nvSpPr>
          <p:cNvPr id="123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xmlns:a="http://schemas.openxmlformats.org/drawingml/2006/main" noGrp="1"/>
          </p:cNvSpPr>
          <p:nvPr>
            <p:ph type="pic" idx="18"/>
          </p:nvPr>
        </p:nvSpPr>
        <p:spPr>
          <a:xfrm xmlns:a="http://schemas.openxmlformats.org/drawingml/2006/main">
            <a:off x="6855540" y="1577998"/>
            <a:ext cx="4121688" cy="2283975"/>
          </a:xfrm>
        </p:spPr>
      </p:sp>
    </p:spTree>
  </p:cSld>
</p:sldLayout>
</file>

<file path=ppt/slideLayouts/slideLayout21.xml><?xml version="1.0" encoding="utf-8"?>
<p:sldLayout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5009872" y="1235915"/>
            <a:ext cx="2172255" cy="4602697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356349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56349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8040021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8040021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356349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356349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8040021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8040021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cxnSp>
        <p:nvCxnSpPr>
          <p:cNvPr id="181" name="Google Shape;2799;p94"/>
          <p:cNvCxnSpPr/>
          <p:nvPr/>
        </p:nvCxnSpPr>
        <p:spPr>
          <a:xfrm xmlns:a="http://schemas.openxmlformats.org/drawingml/2006/main">
            <a:off x="4244694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2" name="Google Shape;2799;p94"/>
          <p:cNvCxnSpPr/>
          <p:nvPr/>
        </p:nvCxnSpPr>
        <p:spPr>
          <a:xfrm xmlns:a="http://schemas.openxmlformats.org/drawingml/2006/main">
            <a:off x="4244694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3" name="Google Shape;2799;p94"/>
          <p:cNvCxnSpPr/>
          <p:nvPr/>
        </p:nvCxnSpPr>
        <p:spPr>
          <a:xfrm xmlns:a="http://schemas.openxmlformats.org/drawingml/2006/main">
            <a:off x="7250583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4" name="Google Shape;2799;p94"/>
          <p:cNvCxnSpPr/>
          <p:nvPr/>
        </p:nvCxnSpPr>
        <p:spPr>
          <a:xfrm xmlns:a="http://schemas.openxmlformats.org/drawingml/2006/main">
            <a:off x="7250583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 xmlns:a="http://schemas.openxmlformats.org/drawingml/2006/main"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9" name="Дата 8">
            <a:extLst xmlns:a="http://schemas.openxmlformats.org/drawingml/2006/main"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xmlns:a="http://schemas.openxmlformats.org/drawingml/2006/main" noGrp="1"/>
          </p:cNvSpPr>
          <p:nvPr>
            <p:ph type="dt" idx="2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10" name="Нижний колонтитул 9">
            <a:extLst xmlns:a="http://schemas.openxmlformats.org/drawingml/2006/main"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xmlns:a="http://schemas.openxmlformats.org/drawingml/2006/main" noGrp="1"/>
          </p:cNvSpPr>
          <p:nvPr>
            <p:ph type="ftr" idx="2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Номер слайда 10">
            <a:extLst xmlns:a="http://schemas.openxmlformats.org/drawingml/2006/main"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xmlns:a="http://schemas.openxmlformats.org/drawingml/2006/main" noGrp="1"/>
          </p:cNvSpPr>
          <p:nvPr>
            <p:ph type="sldNum" idx="3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001460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7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3831097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02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xmlns:a="http://schemas.openxmlformats.org/drawingml/2006/main" noGrp="1"/>
          </p:cNvSpPr>
          <p:nvPr>
            <p:ph type="pic" idx="16"/>
          </p:nvPr>
        </p:nvSpPr>
        <p:spPr>
          <a:xfrm xmlns:a="http://schemas.openxmlformats.org/drawingml/2006/main">
            <a:off x="6660734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71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xmlns:a="http://schemas.openxmlformats.org/drawingml/2006/main" noGrp="1"/>
          </p:cNvSpPr>
          <p:nvPr>
            <p:ph type="pic" idx="17"/>
          </p:nvPr>
        </p:nvSpPr>
        <p:spPr>
          <a:xfrm xmlns:a="http://schemas.openxmlformats.org/drawingml/2006/main">
            <a:off x="9490368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C8C16AD-D907-4463-BE30-FCBB33ACAE3F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97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46076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3269562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9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193048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0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9116535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f5c030785f55413e" /><Relationship Type="http://schemas.openxmlformats.org/officeDocument/2006/relationships/theme" Target="/ppt/slideMasters/theme/theme2.xml" Id="R435ccf658dab4b69" /><Relationship Type="http://schemas.openxmlformats.org/officeDocument/2006/relationships/slideLayout" Target="/ppt/slideLayouts/slideLayout1.xml" Id="Re70bf668fb7646a9" /><Relationship Type="http://schemas.openxmlformats.org/officeDocument/2006/relationships/slideLayout" Target="/ppt/slideLayouts/slideLayout2.xml" Id="R42d055494bf642e3" /><Relationship Type="http://schemas.openxmlformats.org/officeDocument/2006/relationships/slideLayout" Target="/ppt/slideLayouts/slideLayout3.xml" Id="R7c0cecc262e14905" /><Relationship Type="http://schemas.openxmlformats.org/officeDocument/2006/relationships/slideLayout" Target="/ppt/slideLayouts/slideLayout4.xml" Id="Rf0b08f854e9f4956" /><Relationship Type="http://schemas.openxmlformats.org/officeDocument/2006/relationships/slideLayout" Target="/ppt/slideLayouts/slideLayout5.xml" Id="Rfc344d52aa2c42db" /><Relationship Type="http://schemas.openxmlformats.org/officeDocument/2006/relationships/slideLayout" Target="/ppt/slideLayouts/slideLayout6.xml" Id="Rfcc8df293c374b4d" /><Relationship Type="http://schemas.openxmlformats.org/officeDocument/2006/relationships/slideLayout" Target="/ppt/slideLayouts/slideLayout7.xml" Id="R0c2f442c3f4046a6" /><Relationship Type="http://schemas.openxmlformats.org/officeDocument/2006/relationships/slideLayout" Target="/ppt/slideLayouts/slideLayout8.xml" Id="Rdb97a2caca1b465b" /><Relationship Type="http://schemas.openxmlformats.org/officeDocument/2006/relationships/slideLayout" Target="/ppt/slideLayouts/slideLayout9.xml" Id="R6b5f5a25b07f4c8e" /><Relationship Type="http://schemas.openxmlformats.org/officeDocument/2006/relationships/slideLayout" Target="/ppt/slideLayouts/slideLayout10.xml" Id="Rcedde0a76f754ae3" /><Relationship Type="http://schemas.openxmlformats.org/officeDocument/2006/relationships/slideLayout" Target="/ppt/slideLayouts/slideLayout11.xml" Id="Rc0d2adff62eb4eab" /><Relationship Type="http://schemas.openxmlformats.org/officeDocument/2006/relationships/slideLayout" Target="/ppt/slideLayouts/slideLayout12.xml" Id="Rf42baf710497441a" /><Relationship Type="http://schemas.openxmlformats.org/officeDocument/2006/relationships/slideLayout" Target="/ppt/slideLayouts/slideLayout13.xml" Id="R6af6152eec344c12" /><Relationship Type="http://schemas.openxmlformats.org/officeDocument/2006/relationships/slideLayout" Target="/ppt/slideLayouts/slideLayout14.xml" Id="R777c71a4eb074fe3" /><Relationship Type="http://schemas.openxmlformats.org/officeDocument/2006/relationships/slideLayout" Target="/ppt/slideLayouts/slideLayout15.xml" Id="R9ea0ff156e99469e" /><Relationship Type="http://schemas.openxmlformats.org/officeDocument/2006/relationships/slideLayout" Target="/ppt/slideLayouts/slideLayout16.xml" Id="Rb651ec0bc8894972" /><Relationship Type="http://schemas.openxmlformats.org/officeDocument/2006/relationships/slideLayout" Target="/ppt/slideLayouts/slideLayout17.xml" Id="R0a9d6d9cdf794fb7" /><Relationship Type="http://schemas.openxmlformats.org/officeDocument/2006/relationships/slideLayout" Target="/ppt/slideLayouts/slideLayout18.xml" Id="Rab62291ffb5a4054" /><Relationship Type="http://schemas.openxmlformats.org/officeDocument/2006/relationships/slideLayout" Target="/ppt/slideLayouts/slideLayout19.xml" Id="Rda7c4131ce1045fa" /><Relationship Type="http://schemas.openxmlformats.org/officeDocument/2006/relationships/slideLayout" Target="/ppt/slideLayouts/slideLayout20.xml" Id="R81e2ec42324d4c4c" /><Relationship Type="http://schemas.openxmlformats.org/officeDocument/2006/relationships/slideLayout" Target="/ppt/slideLayouts/slideLayout21.xml" Id="R76bc3b0172d64d3a" /><Relationship Type="http://schemas.openxmlformats.org/officeDocument/2006/relationships/slideLayout" Target="/ppt/slideLayouts/slideLayout22.xml" Id="Rfc34a81b14ad4c76" /><Relationship Type="http://schemas.openxmlformats.org/officeDocument/2006/relationships/slideLayout" Target="/ppt/slideLayouts/slideLayout23.xml" Id="R3c6e55ec33a24c57" /></Relationships>
</file>

<file path=ppt/slideMasters/slideMaster1.xml><?xml version="1.0" encoding="utf-8"?>
<p:sldMaster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5c030785f55413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5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70bf668fb7646a9"/>
    <p:sldLayoutId xmlns:r="http://schemas.openxmlformats.org/officeDocument/2006/relationships" id="2147483650" r:id="R42d055494bf642e3"/>
    <p:sldLayoutId xmlns:r="http://schemas.openxmlformats.org/officeDocument/2006/relationships" id="2147483651" r:id="R7c0cecc262e14905"/>
    <p:sldLayoutId xmlns:r="http://schemas.openxmlformats.org/officeDocument/2006/relationships" id="2147483652" r:id="Rf0b08f854e9f4956"/>
    <p:sldLayoutId xmlns:r="http://schemas.openxmlformats.org/officeDocument/2006/relationships" id="2147483653" r:id="Rfc344d52aa2c42db"/>
    <p:sldLayoutId xmlns:r="http://schemas.openxmlformats.org/officeDocument/2006/relationships" id="2147483654" r:id="Rfcc8df293c374b4d"/>
    <p:sldLayoutId xmlns:r="http://schemas.openxmlformats.org/officeDocument/2006/relationships" id="2147483655" r:id="R0c2f442c3f4046a6"/>
    <p:sldLayoutId xmlns:r="http://schemas.openxmlformats.org/officeDocument/2006/relationships" id="2147483656" r:id="Rdb97a2caca1b465b"/>
    <p:sldLayoutId xmlns:r="http://schemas.openxmlformats.org/officeDocument/2006/relationships" id="2147483657" r:id="R6b5f5a25b07f4c8e"/>
    <p:sldLayoutId xmlns:r="http://schemas.openxmlformats.org/officeDocument/2006/relationships" id="2147483658" r:id="Rcedde0a76f754ae3"/>
    <p:sldLayoutId xmlns:r="http://schemas.openxmlformats.org/officeDocument/2006/relationships" id="2147483659" r:id="Rc0d2adff62eb4eab"/>
    <p:sldLayoutId xmlns:r="http://schemas.openxmlformats.org/officeDocument/2006/relationships" id="2147483660" r:id="Rf42baf710497441a"/>
    <p:sldLayoutId xmlns:r="http://schemas.openxmlformats.org/officeDocument/2006/relationships" id="2147483661" r:id="R6af6152eec344c12"/>
    <p:sldLayoutId xmlns:r="http://schemas.openxmlformats.org/officeDocument/2006/relationships" id="2147483662" r:id="R777c71a4eb074fe3"/>
    <p:sldLayoutId xmlns:r="http://schemas.openxmlformats.org/officeDocument/2006/relationships" id="2147483663" r:id="R9ea0ff156e99469e"/>
    <p:sldLayoutId xmlns:r="http://schemas.openxmlformats.org/officeDocument/2006/relationships" id="2147483664" r:id="Rb651ec0bc8894972"/>
    <p:sldLayoutId xmlns:r="http://schemas.openxmlformats.org/officeDocument/2006/relationships" id="2147483665" r:id="R0a9d6d9cdf794fb7"/>
    <p:sldLayoutId xmlns:r="http://schemas.openxmlformats.org/officeDocument/2006/relationships" id="2147483666" r:id="Rab62291ffb5a4054"/>
    <p:sldLayoutId xmlns:r="http://schemas.openxmlformats.org/officeDocument/2006/relationships" id="2147483667" r:id="Rda7c4131ce1045fa"/>
    <p:sldLayoutId xmlns:r="http://schemas.openxmlformats.org/officeDocument/2006/relationships" id="2147483668" r:id="R81e2ec42324d4c4c"/>
    <p:sldLayoutId xmlns:r="http://schemas.openxmlformats.org/officeDocument/2006/relationships" id="2147483669" r:id="R76bc3b0172d64d3a"/>
    <p:sldLayoutId xmlns:r="http://schemas.openxmlformats.org/officeDocument/2006/relationships" id="2147483670" r:id="Rfc34a81b14ad4c76"/>
    <p:sldLayoutId xmlns:r="http://schemas.openxmlformats.org/officeDocument/2006/relationships" id="2147483671" r:id="R3c6e55ec33a24c57"/>
  </p:sldLayoutIdLst>
  <p:hf hdr="0" ftr="0" dt="0"/>
  <p:txStyles>
    <p:titleStyle>
      <a:lvl1pPr xmlns:a="http://schemas.openxmlformats.org/drawingml/2006/main" algn="l" defTabSz="578755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44688" indent="-144688" algn="l" defTabSz="578755">
        <a:lnSpc>
          <a:spcPct val="90000"/>
        </a:lnSpc>
        <a:spcBef>
          <a:spcPts val="631"/>
        </a:spcBef>
        <a:buFont typeface="Arial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434067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72344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01282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302200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591576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88095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170334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45971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89378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78755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868132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15751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446887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736266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025644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315021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xmlns:a="http://schemas.openxmlformats.org/drawingml/2006/main" val="F26B43"/>
          </p15:clr>
        </p15:guide>
        <p15:guide id="20" orient="horz" pos="482">
          <p15:clr>
            <a:srgbClr xmlns:a="http://schemas.openxmlformats.org/drawingml/2006/main" val="F26B43"/>
          </p15:clr>
        </p15:guide>
        <p15:guide id="21" pos="218">
          <p15:clr>
            <a:srgbClr xmlns:a="http://schemas.openxmlformats.org/drawingml/2006/main" val="F26B43"/>
          </p15:clr>
        </p15:guide>
        <p15:guide id="22" pos="7469">
          <p15:clr>
            <a:srgbClr xmlns:a="http://schemas.openxmlformats.org/drawingml/2006/main" val="F26B43"/>
          </p15:clr>
        </p15:guide>
        <p15:guide id="23" orient="horz" pos="249">
          <p15:clr>
            <a:srgbClr xmlns:a="http://schemas.openxmlformats.org/drawingml/2006/main" val="F26B43"/>
          </p15:clr>
        </p15:guide>
        <p15:guide id="24" orient="horz" pos="4042">
          <p15:clr>
            <a:srgbClr xmlns:a="http://schemas.openxmlformats.org/drawingml/2006/main" val="F26B43"/>
          </p15:clr>
        </p15:guide>
        <p15:guide id="25" orient="horz" pos="3906">
          <p15:clr>
            <a:srgbClr xmlns:a="http://schemas.openxmlformats.org/drawingml/2006/main" val="F26B43"/>
          </p15:clr>
        </p15:guide>
        <p15:guide id="26" orient="horz" pos="640">
          <p15:clr>
            <a:srgbClr xmlns:a="http://schemas.openxmlformats.org/drawingml/2006/main" val="F26B43"/>
          </p15:clr>
        </p15:guide>
        <p15:guide id="27" pos="3840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41aef642a04a80" /><Relationship Type="http://schemas.openxmlformats.org/officeDocument/2006/relationships/notesSlide" Target="/ppt/notesSlides/notesSlide1.xml" Id="R5f2f0b078e774a8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88203cae6c84b72" /><Relationship Type="http://schemas.openxmlformats.org/officeDocument/2006/relationships/image" Target="/ppt/media/image3.png" Id="R9cecb68adfc34552" /><Relationship Type="http://schemas.openxmlformats.org/officeDocument/2006/relationships/notesSlide" Target="/ppt/notesSlides/notesSlide2.xml" Id="R88e7c89626a14dc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865ce5e7e4442d0" /><Relationship Type="http://schemas.openxmlformats.org/officeDocument/2006/relationships/image" Target="/ppt/media/image.png" Id="Rcaccd4e0ba6a434f" /><Relationship Type="http://schemas.openxmlformats.org/officeDocument/2006/relationships/notesSlide" Target="/ppt/notesSlides/notesSlide3.xml" Id="R0c878f9696c8451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87670a29c2d45c5" /><Relationship Type="http://schemas.openxmlformats.org/officeDocument/2006/relationships/image" Target="/ppt/media/image4.png" Id="Rf0df705fac2c4c9c" /><Relationship Type="http://schemas.openxmlformats.org/officeDocument/2006/relationships/notesSlide" Target="/ppt/notesSlides/notesSlide4.xml" Id="Rb758aef46db5459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8c299d3b5412413c" /><Relationship Type="http://schemas.openxmlformats.org/officeDocument/2006/relationships/image" Target="/ppt/media/image.png" Id="R34d368b9c6704f9c" /><Relationship Type="http://schemas.openxmlformats.org/officeDocument/2006/relationships/notesSlide" Target="/ppt/notesSlides/notesSlide5.xml" Id="R86827503f113459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7267901c91a648cb" /><Relationship Type="http://schemas.openxmlformats.org/officeDocument/2006/relationships/image" Target="/ppt/media/image.png" Id="R5a74419fdfff4b33" /><Relationship Type="http://schemas.openxmlformats.org/officeDocument/2006/relationships/notesSlide" Target="/ppt/notesSlides/notesSlide6.xml" Id="R38c395d0027740c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6a82fe2a17324196" /><Relationship Type="http://schemas.openxmlformats.org/officeDocument/2006/relationships/image" Target="/ppt/media/image.png" Id="Rb95bc934cbb140c1" /><Relationship Type="http://schemas.openxmlformats.org/officeDocument/2006/relationships/image" Target="/ppt/media/image.jpeg" Id="R0aa1340bc93341e7" /><Relationship Type="http://schemas.openxmlformats.org/officeDocument/2006/relationships/notesSlide" Target="/ppt/notesSlides/notesSlide7.xml" Id="R12b217b790114e2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3e86f67ecd674c36" /><Relationship Type="http://schemas.openxmlformats.org/officeDocument/2006/relationships/image" Target="/ppt/media/image4.png" Id="R50ccfd8e4ec84804" /><Relationship Type="http://schemas.openxmlformats.org/officeDocument/2006/relationships/notesSlide" Target="/ppt/notesSlides/notesSlide8.xml" Id="R59e55aadbdda47b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da1459384a0c49c0" /><Relationship Type="http://schemas.openxmlformats.org/officeDocument/2006/relationships/image" Target="/ppt/media/image3.png" Id="R0c8cba8d1f7548d4" /><Relationship Type="http://schemas.openxmlformats.org/officeDocument/2006/relationships/notesSlide" Target="/ppt/notesSlides/notesSlide9.xml" Id="R72c465f78d4c47d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d1e08f0fb80b4521" /><Relationship Type="http://schemas.openxmlformats.org/officeDocument/2006/relationships/image" Target="/ppt/media/image4.png" Id="R054ab61d08cc4837" /><Relationship Type="http://schemas.openxmlformats.org/officeDocument/2006/relationships/notesSlide" Target="/ppt/notesSlides/notesSlide10.xml" Id="R9b7d4ca9a325486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9ca545765bb748cd" /><Relationship Type="http://schemas.openxmlformats.org/officeDocument/2006/relationships/image" Target="/ppt/media/image4.png" Id="Rffab9cfcf3244c8e" /><Relationship Type="http://schemas.openxmlformats.org/officeDocument/2006/relationships/notesSlide" Target="/ppt/notesSlides/notesSlide11.xml" Id="R8ec5048f22584b3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862f2f5f5f8b4649" /><Relationship Type="http://schemas.openxmlformats.org/officeDocument/2006/relationships/image" Target="/ppt/media/image4.png" Id="R1496a83d6e9b4582" /><Relationship Type="http://schemas.openxmlformats.org/officeDocument/2006/relationships/notesSlide" Target="/ppt/notesSlides/notesSlide12.xml" Id="Rf3a1b01662974fa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7b4b5c28185541dd" /><Relationship Type="http://schemas.openxmlformats.org/officeDocument/2006/relationships/image" Target="/ppt/media/image.png" Id="Ra9d8e5602fd348df" /><Relationship Type="http://schemas.openxmlformats.org/officeDocument/2006/relationships/notesSlide" Target="/ppt/notesSlides/notesSlide13.xml" Id="R7a169264cdb843d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" y="3894513"/>
            <a:ext cx="6271845" cy="170674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68288" indent="0">
              <a:buNone/>
              <a:defRPr sz="42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42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GREENLEAVES</a:t>
            </a:r>
            <a:endParaRPr sz="4800"/>
          </a:p>
        </p:txBody>
      </p:sp>
      <p:sp>
        <p:nvSpPr>
          <p:cNvPr id="4" name="Рисунок 3">
            <a:extLst xmlns:a="http://schemas.openxmlformats.org/drawingml/2006/main">
              <a:ext uri="{FF2B5EF4-FFF2-40B4-BE49-F238E27FC236}">
                <a16:creationId xmlns:a16="http://schemas.microsoft.com/office/drawing/2014/main" id="{F88AFFF3-DF8C-2AA0-1E6F-AEE5FC354BAB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305186" y="329801"/>
            <a:ext cx="5193299" cy="1082589"/>
          </a:xfrm>
        </p:spPr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0" y="5659501"/>
            <a:ext cx="8930641" cy="757174"/>
          </a:xfrm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indent="268288">
              <a:buNone/>
              <a:defRPr sz="1875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875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Эскиз озеленения на основе CAD</a:t>
            </a:r>
            <a:endParaRPr/>
          </a:p>
          <a:p xmlns:a="http://schemas.openxmlformats.org/drawingml/2006/main">
            <a:pPr indent="268288">
              <a:buNone/>
              <a:defRPr sz="1875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875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Задача № 3 ДПиООС Москвы</a:t>
            </a:r>
            <a:endParaRPr/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6709" y="-313993"/>
            <a:ext cx="6125156" cy="2285622"/>
          </a:xfrm>
          <a:prstGeom xmlns:a="http://schemas.openxmlformats.org/drawingml/2006/main" prst="roundRect">
            <a:avLst>
              <a:gd name="adj" fmla="val 9821"/>
            </a:avLst>
          </a:prstGeom>
          <a:noFill xmlns:a="http://schemas.openxmlformats.org/drawingml/2006/main"/>
          <a:ln xmlns:a="http://schemas.openxmlformats.org/drawingml/2006/main" w="9525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88C9D6-DC73-453B-854B-BB75E54F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90550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32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Команда Greenleaves</a:t>
            </a:r>
          </a:p>
          <a:p xmlns:a="http://schemas.openxmlformats.org/drawingml/2006/main">
            <a:pPr>
              <a:defRPr sz="23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32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ЛЦТ 2026</a:t>
            </a: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9cecb68adfc34552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71800"/>
            <a:ext cx="6456363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CEE4">
              <a:alpha val="49804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Рисунок 1">
            <a:extLst xmlns:a="http://schemas.openxmlformats.org/drawingml/2006/main"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0" y="335267"/>
            <a:ext cx="6456363" cy="2971784"/>
          </a:xfrm>
        </p:spPr>
      </p:sp>
      <p:sp>
        <p:nvSpPr>
          <p:cNvPr id="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2303118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6606" y="4876070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</a:pPr>
            <a:r>
              <a:rPr>
                <a:solidFill>
                  <a:schemeClr val="tx1"/>
                </a:solidFill>
              </a:rPr>
              <a:t>Одно вычислительное ядро в браузере и CLI. Повторная проверка каждой правки. Объяснения отказов и сохранение исходных CAD-объектов.</a:t>
            </a:r>
          </a:p>
        </p:txBody>
      </p:sp>
      <p:sp>
        <p:nvSpPr>
          <p:cNvPr id="1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883009"/>
            <a:ext cx="5629858" cy="23990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Капитан: </a:t>
            </a:r>
            <a:r>
              <a:rPr>
                <a:solidFill>
                  <a:schemeClr val="tx1"/>
                </a:solidFill>
              </a:rPr>
              <a:t>уточняется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Кол-во участников: </a:t>
            </a:r>
            <a:r>
              <a:rPr>
                <a:solidFill>
                  <a:schemeClr val="tx1"/>
                </a:solidFill>
              </a:rPr>
              <a:t>2 человека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Краткое описание: 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i="1">
                <a:solidFill>
                  <a:schemeClr val="tx1"/>
                </a:solidFill>
              </a:rPr>
              <a:t>проект Рустама и Егора</a:t>
            </a:r>
            <a:r>
              <a:rPr i="1">
                <a:solidFill>
                  <a:schemeClr val="tx1"/>
                </a:solidFill>
              </a:rPr>
              <a:t> 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i="1">
                <a:solidFill>
                  <a:schemeClr val="tx1"/>
                </a:solidFill>
              </a:rPr>
              <a:t>организации уточняются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Город и регион: уточняются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48478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19903" y="1039236"/>
            <a:ext cx="3636703" cy="10151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7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GREENLEAVES</a:t>
            </a:r>
            <a:endParaRPr sz="2400">
              <a:solidFill>
                <a:schemeClr val="accent5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7" name="Прямая соединительная линия 6">
            <a:extLst xmlns:a="http://schemas.openxmlformats.org/drawingml/2006/main">
              <a:ext uri="{FF2B5EF4-FFF2-40B4-BE49-F238E27FC236}">
                <a16:creationId xmlns:a16="http://schemas.microsoft.com/office/drawing/2014/main" id="{6D87BBF9-717A-4A6E-9275-AB9819D3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774" y="2240031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Прямая соединительная линия 15">
            <a:extLst xmlns:a="http://schemas.openxmlformats.org/drawingml/2006/main">
              <a:ext uri="{FF2B5EF4-FFF2-40B4-BE49-F238E27FC236}">
                <a16:creationId xmlns:a16="http://schemas.microsoft.com/office/drawing/2014/main" id="{E00C575F-FF48-4013-9C2B-11D9EC6B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7347" y="4437879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7" name="Прямая соединительная линия 16">
            <a:extLst xmlns:a="http://schemas.openxmlformats.org/drawingml/2006/main">
              <a:ext uri="{FF2B5EF4-FFF2-40B4-BE49-F238E27FC236}">
                <a16:creationId xmlns:a16="http://schemas.microsoft.com/office/drawing/2014/main" id="{5DAFC151-F0E1-4FFE-9DAD-ABEF46BA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833" y="3448639"/>
            <a:ext cx="5700167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4541737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8027" y="2619903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</a:pPr>
            <a:r>
              <a:rPr>
                <a:solidFill>
                  <a:schemeClr val="tx1"/>
                </a:solidFill>
              </a:rPr>
              <a:t>Редактируемый эскиз посадок из DXF. Проектировщик проверяет слои, получает варианты и выгружает план с координатами растений.</a:t>
            </a:r>
          </a:p>
        </p:txBody>
      </p:sp>
      <p:sp>
        <p:nvSpPr>
          <p:cNvPr id="10" name="Номер слайда 35">
            <a:extLst xmlns:a="http://schemas.openxmlformats.org/drawingml/2006/main"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11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22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32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43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554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2658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199765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6877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ctr">
              <a:buNone/>
            </a:pPr>
            <a:fld id="{E2598689-54C9-18A7-3A19-ED76AA08988F}" type="slidenum">
              <a:rPr sz="1200">
                <a:solidFill>
                  <a:schemeClr val="accent5"/>
                </a:solidFill>
              </a:rPr>
              <a:t>2</a:t>
            </a:fld>
            <a:endParaRPr sz="120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accd4e0ba6a434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Скругленный прямоугольник 55">
            <a:extLst xmlns:a="http://schemas.openxmlformats.org/drawingml/2006/main"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394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678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Автор первого MVP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GitHub: Pro-polyanskiy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Телефон: уточняется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Организация: уточняется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677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>Егор Полянский</a:t>
            </a:r>
          </a:p>
        </p:txBody>
      </p:sp>
      <p:sp>
        <p:nvSpPr>
          <p:cNvPr id="59" name="Скругленный прямоугольник 58">
            <a:extLst xmlns:a="http://schemas.openxmlformats.org/drawingml/2006/main"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712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8996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buNone/>
            </a:pPr>
            <a:r>
              <a:t/>
            </a:r>
          </a:p>
        </p:txBody>
      </p:sp>
      <p:sp>
        <p:nvSpPr>
          <p:cNvPr id="6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8995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>Не используется</a:t>
            </a:r>
          </a:p>
        </p:txBody>
      </p:sp>
      <p:sp>
        <p:nvSpPr>
          <p:cNvPr id="62" name="Скругленный прямоугольник 61">
            <a:extLst xmlns:a="http://schemas.openxmlformats.org/drawingml/2006/main"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2031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315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buNone/>
            </a:pPr>
            <a:r>
              <a:t/>
            </a:r>
          </a:p>
        </p:txBody>
      </p:sp>
      <p:sp>
        <p:nvSpPr>
          <p:cNvPr id="6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314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>Не используется</a:t>
            </a:r>
          </a:p>
        </p:txBody>
      </p:sp>
      <p:sp>
        <p:nvSpPr>
          <p:cNvPr id="65" name="Скругленный прямоугольник 64">
            <a:extLst xmlns:a="http://schemas.openxmlformats.org/drawingml/2006/main"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7349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9633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buNone/>
            </a:pPr>
            <a:r>
              <a:t/>
            </a:r>
          </a:p>
        </p:txBody>
      </p:sp>
      <p:sp>
        <p:nvSpPr>
          <p:cNvPr id="6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9632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>Не используется</a:t>
            </a: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rPr>
                <a:solidFill>
                  <a:schemeClr val="bg1"/>
                </a:solidFill>
              </a:rPr>
              <a:t>3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 xmlns:a="http://schemas.openxmlformats.org/drawingml/2006/main">
              <a:ext uri="{FF2B5EF4-FFF2-40B4-BE49-F238E27FC236}">
                <a16:creationId xmlns:a16="http://schemas.microsoft.com/office/drawing/2014/main" id="{4C94D4FF-301C-477D-8018-73C5CC99D493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581397" y="1816054"/>
            <a:ext cx="1722566" cy="1552901"/>
          </a:xfrm>
        </p:spPr>
      </p:sp>
      <p:sp>
        <p:nvSpPr>
          <p:cNvPr id="3" name="Рисунок 2">
            <a:extLst xmlns:a="http://schemas.openxmlformats.org/drawingml/2006/main"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2886467" y="1826554"/>
            <a:ext cx="1722566" cy="1542401"/>
          </a:xfrm>
        </p:spPr>
      </p:sp>
      <p:sp>
        <p:nvSpPr>
          <p:cNvPr id="4" name="Рисунок 3">
            <a:extLst xmlns:a="http://schemas.openxmlformats.org/drawingml/2006/main"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5191784" y="1809238"/>
            <a:ext cx="1722567" cy="1559717"/>
          </a:xfrm>
        </p:spPr>
      </p:sp>
      <p:sp>
        <p:nvSpPr>
          <p:cNvPr id="5" name="Рисунок 4">
            <a:extLst xmlns:a="http://schemas.openxmlformats.org/drawingml/2006/main"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7520208" y="1809238"/>
            <a:ext cx="1722567" cy="1559717"/>
          </a:xfrm>
        </p:spPr>
      </p:sp>
      <p:sp>
        <p:nvSpPr>
          <p:cNvPr id="6" name="Рисунок 5">
            <a:extLst xmlns:a="http://schemas.openxmlformats.org/drawingml/2006/main"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9802422" y="1809238"/>
            <a:ext cx="1722566" cy="1559717"/>
          </a:xfrm>
        </p:spPr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835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КОМАНДА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518360" y="4250028"/>
            <a:ext cx="1894354" cy="1624612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Развитие проекта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GitHub: rustamnova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Телефон: уточняется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Организация: уточняется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9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>Рустам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0df705fac2c4c9c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rPr>
                <a:solidFill>
                  <a:schemeClr val="accent5"/>
                </a:solidFill>
              </a:rPr>
              <a:t>4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784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РАЗРАБОТКА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3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533607" y="1602273"/>
            <a:ext cx="4425822" cy="93426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>
                <a:solidFill>
                  <a:schemeClr val="tx1"/>
                </a:solidFill>
              </a:rPr>
              <a:t>Егор подготовил первый Python MVP. Мы сохранили его для аудита и развили проект в браузерную студию с общим ядром расчёта.</a:t>
            </a:r>
          </a:p>
        </p:txBody>
      </p:sp>
      <p:sp>
        <p:nvSpPr>
          <p:cNvPr id="3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127964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5139255"/>
            <a:ext cx="7318749" cy="105536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>
                <a:solidFill>
                  <a:schemeClr val="tx1"/>
                </a:solidFill>
              </a:rPr>
              <a:t>Главный вызов: сложные CAD-файлы и неполная геометрия после конвертации. Добавили обработку блоков и диагностику. При потере существенных объектов расчёт останавливается.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8" y="4571473"/>
            <a:ext cx="6438692" cy="6290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/>
            <a:r>
              <a:rPr b="1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3429000"/>
            <a:ext cx="4945565" cy="107852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>
                <a:solidFill>
                  <a:schemeClr val="tx1"/>
                </a:solidFill>
              </a:rPr>
              <a:t>Хотим помогать проектировщикам находить места для озеленения в плотной городской среде. После московского пилота планируем изучить применение в Дубае.</a:t>
            </a:r>
          </a:p>
        </p:txBody>
      </p:sp>
      <p:sp>
        <p:nvSpPr>
          <p:cNvPr id="4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2900091"/>
            <a:ext cx="5629858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Почему вы выбрали именно эту задачу </a:t>
            </a:r>
            <a:br/>
            <a:r>
              <a:rPr b="1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sp>
        <p:nvSpPr>
          <p:cNvPr id="5" name="Прямая соединительная линия 4">
            <a:extLst xmlns:a="http://schemas.openxmlformats.org/drawingml/2006/main">
              <a:ext uri="{FF2B5EF4-FFF2-40B4-BE49-F238E27FC236}">
                <a16:creationId xmlns:a16="http://schemas.microsoft.com/office/drawing/2014/main" id="{6ADE67AF-2196-4B2C-A743-01B11CFA1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2745691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Прямая соединительная линия 5">
            <a:extLst xmlns:a="http://schemas.openxmlformats.org/drawingml/2006/main">
              <a:ext uri="{FF2B5EF4-FFF2-40B4-BE49-F238E27FC236}">
                <a16:creationId xmlns:a16="http://schemas.microsoft.com/office/drawing/2014/main" id="{21D289D2-616C-4F50-A527-675856913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4407066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Прямая соединительная линия 7">
            <a:extLst xmlns:a="http://schemas.openxmlformats.org/drawingml/2006/main">
              <a:ext uri="{FF2B5EF4-FFF2-40B4-BE49-F238E27FC236}">
                <a16:creationId xmlns:a16="http://schemas.microsoft.com/office/drawing/2014/main" id="{A0F0D01D-47A0-4856-96D4-99D673371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110074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1279645"/>
            <a:ext cx="956838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buNone/>
            </a:pPr>
            <a:r>
              <a:rPr b="1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2900091"/>
            <a:ext cx="930595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4571473"/>
            <a:ext cx="930596" cy="56778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34d368b9c6704f9c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750912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0774" y="1211284"/>
            <a:ext cx="5440313" cy="4989492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 xmlns:a="http://schemas.openxmlformats.org/drawingml/2006/main"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211284"/>
            <a:ext cx="5440313" cy="4989492"/>
          </a:xfrm>
          <a:prstGeom xmlns:a="http://schemas.openxmlformats.org/drawingml/2006/main" prst="roundRect">
            <a:avLst>
              <a:gd name="adj" fmla="val 340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rPr>
                <a:solidFill>
                  <a:schemeClr val="bg1"/>
                </a:solidFill>
              </a:rPr>
              <a:t>5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589493" y="1920927"/>
            <a:ext cx="4929861" cy="3868581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28600" indent="-127000">
              <a:spcAft>
                <a:spcPts val="1800"/>
              </a:spcAft>
              <a:buChar char="•"/>
            </a:pPr>
            <a:r>
              <a:rPr sz="150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Подготовка CAD с внешними ссылками и вложенными блоками.</a:t>
            </a:r>
          </a:p>
          <a:p xmlns:a="http://schemas.openxmlformats.org/drawingml/2006/main">
            <a:pPr marL="228600" indent="-127000">
              <a:spcAft>
                <a:spcPts val="1800"/>
              </a:spcAft>
              <a:buChar char="•"/>
            </a:pPr>
            <a:r>
              <a:rPr sz="150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Геометрический алгоритм учитывает контур, препятствия и расстояния между растениями.</a:t>
            </a:r>
          </a:p>
          <a:p xmlns:a="http://schemas.openxmlformats.org/drawingml/2006/main">
            <a:pPr marL="228600" indent="-127000">
              <a:spcAft>
                <a:spcPts val="1800"/>
              </a:spcAft>
              <a:buChar char="•"/>
            </a:pPr>
            <a:r>
              <a:rPr sz="150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Пользователь редактирует эскиз и получает DXF, ведомость и журнал проверок.</a:t>
            </a: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6513513" y="1920927"/>
            <a:ext cx="4957144" cy="387644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28600" indent="-127000">
              <a:spcAft>
                <a:spcPts val="1800"/>
              </a:spcAft>
              <a:buChar char="•"/>
            </a:pPr>
            <a:r>
              <a:rPr sz="150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Первый сценарий: помощник проектировщика для московских улиц.</a:t>
            </a:r>
          </a:p>
          <a:p xmlns:a="http://schemas.openxmlformats.org/drawingml/2006/main">
            <a:pPr marL="228600" indent="-127000">
              <a:spcAft>
                <a:spcPts val="1800"/>
              </a:spcAft>
              <a:buChar char="•"/>
            </a:pPr>
            <a:r>
              <a:rPr sz="150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Следующий этап: пилот с экспертом и измерение времени подготовки вариантов.</a:t>
            </a:r>
          </a:p>
          <a:p xmlns:a="http://schemas.openxmlformats.org/drawingml/2006/main">
            <a:pPr marL="228600" indent="-127000">
              <a:spcAft>
                <a:spcPts val="1800"/>
              </a:spcAft>
              <a:buChar char="•"/>
            </a:pPr>
            <a:r>
              <a:rPr sz="150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Дубай рассматриваем отдельно: местные правила, ассортимент, тень и расход воды.</a:t>
            </a: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56851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КОРОТКО О РЕШЕНИИ</a:t>
            </a: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78063" y="1476583"/>
            <a:ext cx="4929861" cy="55514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6513513" y="1476583"/>
            <a:ext cx="5214724" cy="56151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>
                <a:solidFill>
                  <a:schemeClr val="accent5"/>
                </a:solidFill>
              </a:rPr>
              <a:t>Маркетинговая суть решения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endParaRPr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</p:sld>
</file>

<file path=ppt/slides/slide6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5a74419fdfff4b3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266006"/>
            <a:ext cx="5354638" cy="6331643"/>
          </a:xfrm>
          <a:prstGeom xmlns:a="http://schemas.openxmlformats.org/drawingml/2006/main" prst="roundRect">
            <a:avLst>
              <a:gd name="adj" fmla="val 6926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2700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 xmlns:a="http://schemas.openxmlformats.org/drawingml/2006/main"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rPr>
                <a:solidFill>
                  <a:schemeClr val="bg1"/>
                </a:solidFill>
              </a:rPr>
              <a:t>6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2040" y="496888"/>
            <a:ext cx="4781233" cy="4159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2000">
              <a:solidFill>
                <a:schemeClr val="accent5"/>
              </a:solidFill>
            </a:endParaRPr>
          </a:p>
        </p:txBody>
      </p:sp>
      <p:sp>
        <p:nvSpPr>
          <p:cNvPr id="4" name="Рисунок 3">
            <a:extLst xmlns:a="http://schemas.openxmlformats.org/drawingml/2006/main">
              <a:ext uri="{FF2B5EF4-FFF2-40B4-BE49-F238E27FC236}">
                <a16:creationId xmlns:a16="http://schemas.microsoft.com/office/drawing/2014/main" id="{97D71A7D-1E9E-F7B1-53EA-139E488DA22F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6096001" y="0"/>
            <a:ext cx="6096000" cy="6857999"/>
          </a:xfrm>
        </p:spPr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595433" y="1143695"/>
            <a:ext cx="4807840" cy="47173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BB1314-E667-416C-8337-E1E5F2B68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809625"/>
            <a:ext cx="4476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31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Работа</a:t>
            </a:r>
          </a:p>
          <a:p xmlns:a="http://schemas.openxmlformats.org/drawingml/2006/main">
            <a:pPr>
              <a:defRPr sz="31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31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проектировщика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CC0B09-FB06-4565-B164-1D6BC0F7E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28875"/>
            <a:ext cx="44767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Сначала нужно собрать подоснову и понять ограничения участка. Затем найти варианты размещения и проверить каждую правку.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CA068B-2D33-4C66-BEC8-0E432DC78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14500"/>
            <a:ext cx="476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7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Что берёт на себя</a:t>
            </a:r>
          </a:p>
          <a:p xmlns:a="http://schemas.openxmlformats.org/drawingml/2006/main">
            <a:pPr>
              <a:defRPr sz="27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7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Greenleaves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A871E0-19A6-48BF-B0E0-BEDEFE5CE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43250"/>
            <a:ext cx="4953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100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Предварительная расстановка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100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Проверка расстояний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100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Объяснение отклонений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100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Редактируемый результат</a:t>
            </a:r>
          </a:p>
        </p:txBody>
      </p:sp>
    </p:spTree>
    <p:extLst>
      <p:ext uri="{BB962C8B-B14F-4D97-AF65-F5344CB8AC3E}">
        <p14:creationId xmlns:p14="http://schemas.microsoft.com/office/powerpoint/2010/main" val="1201716719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95bc934cbb140c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170" y="1304256"/>
            <a:ext cx="11541659" cy="5052102"/>
          </a:xfrm>
          <a:prstGeom xmlns:a="http://schemas.openxmlformats.org/drawingml/2006/main" prst="roundRect">
            <a:avLst>
              <a:gd name="adj" fmla="val 6926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227ECECA-D19C-BF71-E687-EC21A327371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3888" y="1556279"/>
            <a:ext cx="10789619" cy="37454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rPr>
                <a:solidFill>
                  <a:schemeClr val="bg1"/>
                </a:solidFill>
              </a:rPr>
              <a:t>7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33104" y="414049"/>
            <a:ext cx="5994696" cy="55206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600">
              <a:solidFill>
                <a:schemeClr val="bg1"/>
              </a:solidFill>
            </a:endParaRP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09B6FA-EFB8-487B-9D1A-996FB18EC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4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РАБОЧАЯ СТУДИЯ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95B5D3-C4BC-433D-931A-4A0E91774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3827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Расчёт, правки и экспорт в браузере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a1340bc93341e7"/>
          <a:stretch xmlns:a="http://schemas.openxmlformats.org/drawingml/2006/main"/>
        </p:blipFill>
        <p:spPr>
          <a:xfrm xmlns:a="http://schemas.openxmlformats.org/drawingml/2006/main">
            <a:off x="2652184" y="2019300"/>
            <a:ext cx="6887632" cy="3876675"/>
          </a:xfrm>
          <a:prstGeom xmlns:a="http://schemas.openxmlformats.org/drawingml/2006/main" prst="rect">
            <a:avLst/>
          </a:prstGeom>
        </p:spPr>
      </p:pic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6BE792-29B4-473C-A2B8-9A235DA6A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81700"/>
            <a:ext cx="1085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350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Синтетический пример · 180 предложений при заданном лимите · требуется проверка экспертом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50ccfd8e4ec8480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rPr>
                <a:solidFill>
                  <a:schemeClr val="accent5"/>
                </a:solidFill>
              </a:rPr>
              <a:t>8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1615961" y="1428777"/>
            <a:ext cx="3866856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1615964" y="1996388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1596605" y="3032761"/>
            <a:ext cx="386685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1596605" y="3580500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1596605" y="4616873"/>
            <a:ext cx="3866856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1596605" y="5164612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xmlns:a="http://schemas.openxmlformats.org/drawingml/2006/main" noGrp="1"/>
          </p:cNvSpPr>
          <p:nvPr>
            <p:ph type="body" idx="43"/>
          </p:nvPr>
        </p:nvSpPr>
        <p:spPr>
          <a:xfrm xmlns:a="http://schemas.openxmlformats.org/drawingml/2006/main">
            <a:off x="7289068" y="1428777"/>
            <a:ext cx="3866856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xmlns:a="http://schemas.openxmlformats.org/drawingml/2006/main" noGrp="1"/>
          </p:cNvSpPr>
          <p:nvPr>
            <p:ph type="body" idx="44"/>
          </p:nvPr>
        </p:nvSpPr>
        <p:spPr>
          <a:xfrm xmlns:a="http://schemas.openxmlformats.org/drawingml/2006/main">
            <a:off x="7289071" y="1996388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xmlns:a="http://schemas.openxmlformats.org/drawingml/2006/main" noGrp="1"/>
          </p:cNvSpPr>
          <p:nvPr>
            <p:ph type="body" idx="45"/>
          </p:nvPr>
        </p:nvSpPr>
        <p:spPr>
          <a:xfrm xmlns:a="http://schemas.openxmlformats.org/drawingml/2006/main">
            <a:off x="7269712" y="3032761"/>
            <a:ext cx="386685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xmlns:a="http://schemas.openxmlformats.org/drawingml/2006/main" noGrp="1"/>
          </p:cNvSpPr>
          <p:nvPr>
            <p:ph type="body" idx="46"/>
          </p:nvPr>
        </p:nvSpPr>
        <p:spPr>
          <a:xfrm xmlns:a="http://schemas.openxmlformats.org/drawingml/2006/main">
            <a:off x="7269712" y="3580500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 xmlns:a="http://schemas.openxmlformats.org/drawingml/2006/main"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xmlns:a="http://schemas.openxmlformats.org/drawingml/2006/main" noGrp="1"/>
          </p:cNvSpPr>
          <p:nvPr>
            <p:ph type="body" idx="47"/>
          </p:nvPr>
        </p:nvSpPr>
        <p:spPr>
          <a:xfrm xmlns:a="http://schemas.openxmlformats.org/drawingml/2006/main">
            <a:off x="7269712" y="4616873"/>
            <a:ext cx="3866856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13" name="Текст 12">
            <a:extLst xmlns:a="http://schemas.openxmlformats.org/drawingml/2006/main"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xmlns:a="http://schemas.openxmlformats.org/drawingml/2006/main" noGrp="1"/>
          </p:cNvSpPr>
          <p:nvPr>
            <p:ph type="body" idx="48"/>
          </p:nvPr>
        </p:nvSpPr>
        <p:spPr>
          <a:xfrm xmlns:a="http://schemas.openxmlformats.org/drawingml/2006/main">
            <a:off x="7269712" y="5164612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20913" y="1394052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501557" y="2998036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501557" y="4582148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 xmlns:a="http://schemas.openxmlformats.org/drawingml/2006/main"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xmlns:a="http://schemas.openxmlformats.org/drawingml/2006/main" noGrp="1"/>
          </p:cNvSpPr>
          <p:nvPr>
            <p:ph type="body" idx="52"/>
          </p:nvPr>
        </p:nvSpPr>
        <p:spPr>
          <a:xfrm xmlns:a="http://schemas.openxmlformats.org/drawingml/2006/main">
            <a:off x="6194020" y="1394052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9" name="Текст 18">
            <a:extLst xmlns:a="http://schemas.openxmlformats.org/drawingml/2006/main"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xmlns:a="http://schemas.openxmlformats.org/drawingml/2006/main" noGrp="1"/>
          </p:cNvSpPr>
          <p:nvPr>
            <p:ph type="body" idx="53"/>
          </p:nvPr>
        </p:nvSpPr>
        <p:spPr>
          <a:xfrm xmlns:a="http://schemas.openxmlformats.org/drawingml/2006/main">
            <a:off x="6174664" y="2998036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20" name="Текст 19">
            <a:extLst xmlns:a="http://schemas.openxmlformats.org/drawingml/2006/main"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xmlns:a="http://schemas.openxmlformats.org/drawingml/2006/main" noGrp="1"/>
          </p:cNvSpPr>
          <p:nvPr>
            <p:ph type="body" idx="54"/>
          </p:nvPr>
        </p:nvSpPr>
        <p:spPr>
          <a:xfrm xmlns:a="http://schemas.openxmlformats.org/drawingml/2006/main">
            <a:off x="6174664" y="4582148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D6D4BE-DA34-4994-A7BD-F16218A70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91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8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РЕАЛЬНЫЕ ДАННЫЕ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BAE01C-BBD3-4BB2-ABD8-831165890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31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Пилот на 3-й Парковой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F2CE2A-F4E3-49AC-8918-76BA5D886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4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20 улиц в официальном архиве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4A0F30-8C18-4158-9A84-C05B6D9B0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33750"/>
            <a:ext cx="1047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Извлечён выбранный комплект исходников одной улицы.</a:t>
            </a:r>
          </a:p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Для первого теста выбран фрагмент 250 м внутри реального контура.</a:t>
            </a:r>
          </a:p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Распознано 22 307 геометрических фрагментов.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CCB8F8-AF9E-4B74-9C8A-2D4F87725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86375"/>
            <a:ext cx="1057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A41248"/>
                </a:solidFill>
                <a:latin typeface="Montserrat"/>
                <a:ea typeface="Montserrat"/>
                <a:cs typeface="Montserrat"/>
              </a:defRPr>
            </a:pPr>
            <a:r>
              <a:rPr sz="1725" b="1">
                <a:solidFill>
                  <a:srgbClr val="A41248"/>
                </a:solidFill>
                <a:latin typeface="Montserrat"/>
                <a:ea typeface="Montserrat"/>
                <a:cs typeface="Montserrat"/>
              </a:rPr>
              <a:t>Расчёт посадок пока заблокирован: 2 490 REGION без геометрического содержимого после конвертации. Полный датасет не валидирован.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0c8cba8d1f7548d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Заголовок 5">
            <a:extLst xmlns:a="http://schemas.openxmlformats.org/drawingml/2006/main"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33490" y="370426"/>
            <a:ext cx="5562510" cy="4423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200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521133" y="1695025"/>
            <a:ext cx="4902200" cy="71258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521133" y="2552035"/>
            <a:ext cx="4902200" cy="71258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521133" y="3409044"/>
            <a:ext cx="4902200" cy="71258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521133" y="4266053"/>
            <a:ext cx="4902200" cy="71258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 xmlns:a="http://schemas.openxmlformats.org/drawingml/2006/main"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521133" y="5123063"/>
            <a:ext cx="4902200" cy="71258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41475" y="6356350"/>
            <a:ext cx="5588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rPr>
                <a:solidFill>
                  <a:schemeClr val="accent5"/>
                </a:solidFill>
              </a:rPr>
              <a:t>9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Прямая соединительная линия 1">
            <a:extLst xmlns:a="http://schemas.openxmlformats.org/drawingml/2006/main">
              <a:ext uri="{FF2B5EF4-FFF2-40B4-BE49-F238E27FC236}">
                <a16:creationId xmlns:a16="http://schemas.microsoft.com/office/drawing/2014/main" id="{54FC7AA7-C811-454B-86D7-588F0F233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133" y="1604660"/>
            <a:ext cx="11335905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4" name="Прямая соединительная линия 3">
            <a:extLst xmlns:a="http://schemas.openxmlformats.org/drawingml/2006/main">
              <a:ext uri="{FF2B5EF4-FFF2-40B4-BE49-F238E27FC236}">
                <a16:creationId xmlns:a16="http://schemas.microsoft.com/office/drawing/2014/main" id="{5F70828D-4DCE-455A-8F05-436C8CB7B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133" y="2465535"/>
            <a:ext cx="11335905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Прямая соединительная линия 12">
            <a:extLst xmlns:a="http://schemas.openxmlformats.org/drawingml/2006/main">
              <a:ext uri="{FF2B5EF4-FFF2-40B4-BE49-F238E27FC236}">
                <a16:creationId xmlns:a16="http://schemas.microsoft.com/office/drawing/2014/main" id="{8CA580F2-C6BE-47A2-BCAA-9580D145A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133" y="3342865"/>
            <a:ext cx="11335905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Прямая соединительная линия 13">
            <a:extLst xmlns:a="http://schemas.openxmlformats.org/drawingml/2006/main">
              <a:ext uri="{FF2B5EF4-FFF2-40B4-BE49-F238E27FC236}">
                <a16:creationId xmlns:a16="http://schemas.microsoft.com/office/drawing/2014/main" id="{5036EE69-CDA0-4056-A854-6C7F5DC4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133" y="4183125"/>
            <a:ext cx="11335905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5" name="Прямая соединительная линия 14">
            <a:extLst xmlns:a="http://schemas.openxmlformats.org/drawingml/2006/main">
              <a:ext uri="{FF2B5EF4-FFF2-40B4-BE49-F238E27FC236}">
                <a16:creationId xmlns:a16="http://schemas.microsoft.com/office/drawing/2014/main" id="{6A618163-517D-4FC9-B159-911A8B1EB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133" y="5048098"/>
            <a:ext cx="11335905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A3A843-0C0F-4C1D-A946-111535B78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"/>
            <a:ext cx="581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9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Проверки качества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046869-E820-4A73-821A-3F3D32D7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24025"/>
            <a:ext cx="5000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21 тест JavaScript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485E96-1C86-47DF-B6FF-C854230C3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724025"/>
            <a:ext cx="581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Геометрия, правки, экспорт и CLI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F8E9F0-F664-4FF9-9279-DFB9DB1D2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81275"/>
            <a:ext cx="5000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7 тестов подготовки CAD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807CB9-0CF5-412B-A477-2E5CFDE0C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581275"/>
            <a:ext cx="581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Блоки, повороты, масштаб, штриховки и ACIS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400CE3-5760-4378-8FCF-2D73D49BD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38525"/>
            <a:ext cx="5000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2 000 сравнений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4F9F79-ADB8-4C6D-8FE4-A74F6F5A7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38525"/>
            <a:ext cx="581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Пространственный индекс против полного перебора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289B2D-BA67-4F10-942F-F2A089D12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95775"/>
            <a:ext cx="5000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DXF сохраняет исходные сущности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B14466-F09E-4A90-8CB3-2D30CECAC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295775"/>
            <a:ext cx="581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Посадки добавляются на слои GREENLEAVES_*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B9096EF-FB8F-4B76-9448-79C096F51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53025"/>
            <a:ext cx="5000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Нужна экспертная проверка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3F04A42-7584-46D3-B314-2C7A464C7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53025"/>
            <a:ext cx="581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Нормы, полнота подосновы и пригодность реального плана</a:t>
            </a:r>
          </a:p>
        </p:txBody>
      </p:sp>
    </p:spTree>
    <p:extLst>
      <p:ext uri="{BB962C8B-B14F-4D97-AF65-F5344CB8AC3E}">
        <p14:creationId xmlns:p14="http://schemas.microsoft.com/office/powerpoint/2010/main" val="3679793639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054ab61d08cc483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rPr>
                <a:solidFill>
                  <a:schemeClr val="accent5"/>
                </a:solidFill>
              </a:rPr>
              <a:t>10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1615961" y="1428777"/>
            <a:ext cx="3866856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1615964" y="1996388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1596605" y="3032761"/>
            <a:ext cx="386685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1596605" y="3580500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1596605" y="4616873"/>
            <a:ext cx="3866856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1596605" y="5164612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xmlns:a="http://schemas.openxmlformats.org/drawingml/2006/main" noGrp="1"/>
          </p:cNvSpPr>
          <p:nvPr>
            <p:ph type="body" idx="43"/>
          </p:nvPr>
        </p:nvSpPr>
        <p:spPr>
          <a:xfrm xmlns:a="http://schemas.openxmlformats.org/drawingml/2006/main">
            <a:off x="7289068" y="1428777"/>
            <a:ext cx="3866856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xmlns:a="http://schemas.openxmlformats.org/drawingml/2006/main" noGrp="1"/>
          </p:cNvSpPr>
          <p:nvPr>
            <p:ph type="body" idx="44"/>
          </p:nvPr>
        </p:nvSpPr>
        <p:spPr>
          <a:xfrm xmlns:a="http://schemas.openxmlformats.org/drawingml/2006/main">
            <a:off x="7289071" y="1996388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xmlns:a="http://schemas.openxmlformats.org/drawingml/2006/main" noGrp="1"/>
          </p:cNvSpPr>
          <p:nvPr>
            <p:ph type="body" idx="45"/>
          </p:nvPr>
        </p:nvSpPr>
        <p:spPr>
          <a:xfrm xmlns:a="http://schemas.openxmlformats.org/drawingml/2006/main">
            <a:off x="7269712" y="3032761"/>
            <a:ext cx="386685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xmlns:a="http://schemas.openxmlformats.org/drawingml/2006/main" noGrp="1"/>
          </p:cNvSpPr>
          <p:nvPr>
            <p:ph type="body" idx="46"/>
          </p:nvPr>
        </p:nvSpPr>
        <p:spPr>
          <a:xfrm xmlns:a="http://schemas.openxmlformats.org/drawingml/2006/main">
            <a:off x="7269712" y="3580500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 xmlns:a="http://schemas.openxmlformats.org/drawingml/2006/main"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xmlns:a="http://schemas.openxmlformats.org/drawingml/2006/main" noGrp="1"/>
          </p:cNvSpPr>
          <p:nvPr>
            <p:ph type="body" idx="47"/>
          </p:nvPr>
        </p:nvSpPr>
        <p:spPr>
          <a:xfrm xmlns:a="http://schemas.openxmlformats.org/drawingml/2006/main">
            <a:off x="7269712" y="4616873"/>
            <a:ext cx="3866856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13" name="Текст 12">
            <a:extLst xmlns:a="http://schemas.openxmlformats.org/drawingml/2006/main"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xmlns:a="http://schemas.openxmlformats.org/drawingml/2006/main" noGrp="1"/>
          </p:cNvSpPr>
          <p:nvPr>
            <p:ph type="body" idx="48"/>
          </p:nvPr>
        </p:nvSpPr>
        <p:spPr>
          <a:xfrm xmlns:a="http://schemas.openxmlformats.org/drawingml/2006/main">
            <a:off x="7269712" y="5164612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20913" y="1394052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501557" y="2998036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501557" y="4582148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 xmlns:a="http://schemas.openxmlformats.org/drawingml/2006/main"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xmlns:a="http://schemas.openxmlformats.org/drawingml/2006/main" noGrp="1"/>
          </p:cNvSpPr>
          <p:nvPr>
            <p:ph type="body" idx="52"/>
          </p:nvPr>
        </p:nvSpPr>
        <p:spPr>
          <a:xfrm xmlns:a="http://schemas.openxmlformats.org/drawingml/2006/main">
            <a:off x="6194020" y="1394052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9" name="Текст 18">
            <a:extLst xmlns:a="http://schemas.openxmlformats.org/drawingml/2006/main"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xmlns:a="http://schemas.openxmlformats.org/drawingml/2006/main" noGrp="1"/>
          </p:cNvSpPr>
          <p:nvPr>
            <p:ph type="body" idx="53"/>
          </p:nvPr>
        </p:nvSpPr>
        <p:spPr>
          <a:xfrm xmlns:a="http://schemas.openxmlformats.org/drawingml/2006/main">
            <a:off x="6174664" y="2998036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20" name="Текст 19">
            <a:extLst xmlns:a="http://schemas.openxmlformats.org/drawingml/2006/main"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xmlns:a="http://schemas.openxmlformats.org/drawingml/2006/main" noGrp="1"/>
          </p:cNvSpPr>
          <p:nvPr>
            <p:ph type="body" idx="54"/>
          </p:nvPr>
        </p:nvSpPr>
        <p:spPr>
          <a:xfrm xmlns:a="http://schemas.openxmlformats.org/drawingml/2006/main">
            <a:off x="6174664" y="4582148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BDB644-2606-47DC-BDDA-23CD77BB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91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АРХИТЕКТУРА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4A9D3D-98A0-4220-AE45-6B4AF4ABA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1000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31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Одно ядро расчёта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386F5B-FDC4-4949-9701-F27B8B2AE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67000"/>
            <a:ext cx="333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Подготовка CAD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081935-ADB3-482C-A606-F7B2235A9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29000"/>
            <a:ext cx="3286125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Локальный Python</a:t>
            </a:r>
          </a:p>
          <a:p xmlns:a="http://schemas.openxmlformats.org/drawingml/2006/main">
            <a:pPr>
              <a:def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Слои и внешние ссылки</a:t>
            </a:r>
          </a:p>
          <a:p xmlns:a="http://schemas.openxmlformats.org/drawingml/2006/main">
            <a:pPr>
              <a:def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Отчёт о проблемах исходника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164CBE-F99E-47F5-A229-B67538996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67000"/>
            <a:ext cx="3381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Геометрическое ядро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39A6AF-5169-4CA6-ACF6-C30D629E1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429000"/>
            <a:ext cx="3381375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JavaScript без внешнего AI API</a:t>
            </a:r>
          </a:p>
          <a:p xmlns:a="http://schemas.openxmlformats.org/drawingml/2006/main">
            <a:pPr>
              <a:def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Проверка точек и расстояний</a:t>
            </a:r>
          </a:p>
          <a:p xmlns:a="http://schemas.openxmlformats.org/drawingml/2006/main">
            <a:pPr>
              <a:def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Пространственный индекс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94408EF-DE56-42F4-BA58-355DC63C0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67000"/>
            <a:ext cx="3381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Интерфейс и выход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EDADEE-42A1-4919-AAA9-56BF85BA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29000"/>
            <a:ext cx="3381375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Браузерная студия и CLI</a:t>
            </a:r>
          </a:p>
          <a:p xmlns:a="http://schemas.openxmlformats.org/drawingml/2006/main">
            <a:pPr>
              <a:def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Правки и отмена действий</a:t>
            </a:r>
          </a:p>
          <a:p xmlns:a="http://schemas.openxmlformats.org/drawingml/2006/main">
            <a:pPr>
              <a:def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DXF, JSON, CSV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</p:sld>
</file>

<file path=ppt/slides/slide1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fab9cfcf3244c8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rPr>
                <a:solidFill>
                  <a:schemeClr val="accent5"/>
                </a:solidFill>
              </a:rPr>
              <a:t>11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1615961" y="1428777"/>
            <a:ext cx="3866856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1615964" y="1996388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1596605" y="3032761"/>
            <a:ext cx="386685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1596605" y="3580500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1596605" y="4616873"/>
            <a:ext cx="3866856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1596605" y="5164612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xmlns:a="http://schemas.openxmlformats.org/drawingml/2006/main" noGrp="1"/>
          </p:cNvSpPr>
          <p:nvPr>
            <p:ph type="body" idx="43"/>
          </p:nvPr>
        </p:nvSpPr>
        <p:spPr>
          <a:xfrm xmlns:a="http://schemas.openxmlformats.org/drawingml/2006/main">
            <a:off x="7289068" y="1428777"/>
            <a:ext cx="3866856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xmlns:a="http://schemas.openxmlformats.org/drawingml/2006/main" noGrp="1"/>
          </p:cNvSpPr>
          <p:nvPr>
            <p:ph type="body" idx="44"/>
          </p:nvPr>
        </p:nvSpPr>
        <p:spPr>
          <a:xfrm xmlns:a="http://schemas.openxmlformats.org/drawingml/2006/main">
            <a:off x="7289071" y="1996388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xmlns:a="http://schemas.openxmlformats.org/drawingml/2006/main" noGrp="1"/>
          </p:cNvSpPr>
          <p:nvPr>
            <p:ph type="body" idx="45"/>
          </p:nvPr>
        </p:nvSpPr>
        <p:spPr>
          <a:xfrm xmlns:a="http://schemas.openxmlformats.org/drawingml/2006/main">
            <a:off x="7269712" y="3032761"/>
            <a:ext cx="386685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xmlns:a="http://schemas.openxmlformats.org/drawingml/2006/main" noGrp="1"/>
          </p:cNvSpPr>
          <p:nvPr>
            <p:ph type="body" idx="46"/>
          </p:nvPr>
        </p:nvSpPr>
        <p:spPr>
          <a:xfrm xmlns:a="http://schemas.openxmlformats.org/drawingml/2006/main">
            <a:off x="7269712" y="3580500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 xmlns:a="http://schemas.openxmlformats.org/drawingml/2006/main"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xmlns:a="http://schemas.openxmlformats.org/drawingml/2006/main" noGrp="1"/>
          </p:cNvSpPr>
          <p:nvPr>
            <p:ph type="body" idx="47"/>
          </p:nvPr>
        </p:nvSpPr>
        <p:spPr>
          <a:xfrm xmlns:a="http://schemas.openxmlformats.org/drawingml/2006/main">
            <a:off x="7269712" y="4616873"/>
            <a:ext cx="3866856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13" name="Текст 12">
            <a:extLst xmlns:a="http://schemas.openxmlformats.org/drawingml/2006/main"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xmlns:a="http://schemas.openxmlformats.org/drawingml/2006/main" noGrp="1"/>
          </p:cNvSpPr>
          <p:nvPr>
            <p:ph type="body" idx="48"/>
          </p:nvPr>
        </p:nvSpPr>
        <p:spPr>
          <a:xfrm xmlns:a="http://schemas.openxmlformats.org/drawingml/2006/main">
            <a:off x="7269712" y="5164612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20913" y="1394052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501557" y="2998036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501557" y="4582148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 xmlns:a="http://schemas.openxmlformats.org/drawingml/2006/main"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xmlns:a="http://schemas.openxmlformats.org/drawingml/2006/main" noGrp="1"/>
          </p:cNvSpPr>
          <p:nvPr>
            <p:ph type="body" idx="52"/>
          </p:nvPr>
        </p:nvSpPr>
        <p:spPr>
          <a:xfrm xmlns:a="http://schemas.openxmlformats.org/drawingml/2006/main">
            <a:off x="6194020" y="1394052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9" name="Текст 18">
            <a:extLst xmlns:a="http://schemas.openxmlformats.org/drawingml/2006/main"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xmlns:a="http://schemas.openxmlformats.org/drawingml/2006/main" noGrp="1"/>
          </p:cNvSpPr>
          <p:nvPr>
            <p:ph type="body" idx="53"/>
          </p:nvPr>
        </p:nvSpPr>
        <p:spPr>
          <a:xfrm xmlns:a="http://schemas.openxmlformats.org/drawingml/2006/main">
            <a:off x="6174664" y="2998036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20" name="Текст 19">
            <a:extLst xmlns:a="http://schemas.openxmlformats.org/drawingml/2006/main"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xmlns:a="http://schemas.openxmlformats.org/drawingml/2006/main" noGrp="1"/>
          </p:cNvSpPr>
          <p:nvPr>
            <p:ph type="body" idx="54"/>
          </p:nvPr>
        </p:nvSpPr>
        <p:spPr>
          <a:xfrm xmlns:a="http://schemas.openxmlformats.org/drawingml/2006/main">
            <a:off x="6174664" y="4582148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DBB899-5218-4AC4-A97E-965FF7BB5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91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ПРИМЕНЕНИЕ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0CDE69-0588-45C1-AF20-65A0F8ECA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9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Пилот с проектной организацией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FB6593-CC78-45D9-88C2-70D244A3D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193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Пользователь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114409-20DD-4FC1-8CB6-FD3EC1AB6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286125"/>
            <a:ext cx="4762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17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Специалист, который готовит</a:t>
            </a:r>
          </a:p>
          <a:p xmlns:a="http://schemas.openxmlformats.org/drawingml/2006/main">
            <a:pPr>
              <a:defRPr sz="217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17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варианты озеленения улицы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0A5E3F-BB18-49A3-966D-39B413BF6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9375"/>
            <a:ext cx="504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Что измеряем на пилоте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7E78554-ED17-4495-A893-01E71C29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86125"/>
            <a:ext cx="5095875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Время подготовки варианта</a:t>
            </a:r>
          </a:p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Доля принятых экспертом предложений</a:t>
            </a:r>
          </a:p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Количество исправлений</a:t>
            </a:r>
          </a:p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Сохранность исходной геометрии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ECD2DF-909C-4853-B8DB-8AF1B3652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57875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A41248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A41248"/>
                </a:solidFill>
                <a:latin typeface="Montserrat"/>
                <a:ea typeface="Montserrat"/>
                <a:cs typeface="Montserrat"/>
              </a:rPr>
              <a:t>Экономический эффект и готовность к закупке пока не подтверждены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</p:sld>
</file>

<file path=ppt/slides/slide1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1496a83d6e9b4582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rPr>
                <a:solidFill>
                  <a:schemeClr val="accent5"/>
                </a:solidFill>
              </a:rPr>
              <a:t>12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1615961" y="1428777"/>
            <a:ext cx="3866856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1615964" y="1996388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1596605" y="3032761"/>
            <a:ext cx="386685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1596605" y="3580500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1596605" y="4616873"/>
            <a:ext cx="3866856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1596605" y="5164612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xmlns:a="http://schemas.openxmlformats.org/drawingml/2006/main" noGrp="1"/>
          </p:cNvSpPr>
          <p:nvPr>
            <p:ph type="body" idx="43"/>
          </p:nvPr>
        </p:nvSpPr>
        <p:spPr>
          <a:xfrm xmlns:a="http://schemas.openxmlformats.org/drawingml/2006/main">
            <a:off x="7289068" y="1428777"/>
            <a:ext cx="3866856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xmlns:a="http://schemas.openxmlformats.org/drawingml/2006/main" noGrp="1"/>
          </p:cNvSpPr>
          <p:nvPr>
            <p:ph type="body" idx="44"/>
          </p:nvPr>
        </p:nvSpPr>
        <p:spPr>
          <a:xfrm xmlns:a="http://schemas.openxmlformats.org/drawingml/2006/main">
            <a:off x="7289071" y="1996388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xmlns:a="http://schemas.openxmlformats.org/drawingml/2006/main" noGrp="1"/>
          </p:cNvSpPr>
          <p:nvPr>
            <p:ph type="body" idx="45"/>
          </p:nvPr>
        </p:nvSpPr>
        <p:spPr>
          <a:xfrm xmlns:a="http://schemas.openxmlformats.org/drawingml/2006/main">
            <a:off x="7269712" y="3032761"/>
            <a:ext cx="386685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xmlns:a="http://schemas.openxmlformats.org/drawingml/2006/main" noGrp="1"/>
          </p:cNvSpPr>
          <p:nvPr>
            <p:ph type="body" idx="46"/>
          </p:nvPr>
        </p:nvSpPr>
        <p:spPr>
          <a:xfrm xmlns:a="http://schemas.openxmlformats.org/drawingml/2006/main">
            <a:off x="7269712" y="3580500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 xmlns:a="http://schemas.openxmlformats.org/drawingml/2006/main"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xmlns:a="http://schemas.openxmlformats.org/drawingml/2006/main" noGrp="1"/>
          </p:cNvSpPr>
          <p:nvPr>
            <p:ph type="body" idx="47"/>
          </p:nvPr>
        </p:nvSpPr>
        <p:spPr>
          <a:xfrm xmlns:a="http://schemas.openxmlformats.org/drawingml/2006/main">
            <a:off x="7269712" y="4616873"/>
            <a:ext cx="3866856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13" name="Текст 12">
            <a:extLst xmlns:a="http://schemas.openxmlformats.org/drawingml/2006/main"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xmlns:a="http://schemas.openxmlformats.org/drawingml/2006/main" noGrp="1"/>
          </p:cNvSpPr>
          <p:nvPr>
            <p:ph type="body" idx="48"/>
          </p:nvPr>
        </p:nvSpPr>
        <p:spPr>
          <a:xfrm xmlns:a="http://schemas.openxmlformats.org/drawingml/2006/main">
            <a:off x="7269712" y="5164612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20913" y="1394052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501557" y="2998036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501557" y="4582148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 xmlns:a="http://schemas.openxmlformats.org/drawingml/2006/main"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xmlns:a="http://schemas.openxmlformats.org/drawingml/2006/main" noGrp="1"/>
          </p:cNvSpPr>
          <p:nvPr>
            <p:ph type="body" idx="52"/>
          </p:nvPr>
        </p:nvSpPr>
        <p:spPr>
          <a:xfrm xmlns:a="http://schemas.openxmlformats.org/drawingml/2006/main">
            <a:off x="6194020" y="1394052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9" name="Текст 18">
            <a:extLst xmlns:a="http://schemas.openxmlformats.org/drawingml/2006/main"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xmlns:a="http://schemas.openxmlformats.org/drawingml/2006/main" noGrp="1"/>
          </p:cNvSpPr>
          <p:nvPr>
            <p:ph type="body" idx="53"/>
          </p:nvPr>
        </p:nvSpPr>
        <p:spPr>
          <a:xfrm xmlns:a="http://schemas.openxmlformats.org/drawingml/2006/main">
            <a:off x="6174664" y="2998036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20" name="Текст 19">
            <a:extLst xmlns:a="http://schemas.openxmlformats.org/drawingml/2006/main"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xmlns:a="http://schemas.openxmlformats.org/drawingml/2006/main" noGrp="1"/>
          </p:cNvSpPr>
          <p:nvPr>
            <p:ph type="body" idx="54"/>
          </p:nvPr>
        </p:nvSpPr>
        <p:spPr>
          <a:xfrm xmlns:a="http://schemas.openxmlformats.org/drawingml/2006/main">
            <a:off x="6174664" y="4582148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3055C7-FA6A-4DB0-B919-7398AFC68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91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РАЗВИТИЕ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B0ED4B-00AC-480B-9E08-0C4177822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30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Москва, затем исследование Дубая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3CDF72-8086-4DD3-896F-3CA5B5D4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67000"/>
            <a:ext cx="485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3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Ближайшая работа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6F2921-269B-4F8A-B8DB-B5614E838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76625"/>
            <a:ext cx="4953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Полная геометрия пилота</a:t>
            </a:r>
          </a:p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Нормативная матрица с источниками</a:t>
            </a:r>
          </a:p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Открытие результата в CAD</a:t>
            </a:r>
          </a:p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Измерение качества с экспертом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58C736-04FD-45D4-A1FA-DC1A2EEAA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67000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3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Адаптация к Дубаю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C1D595-558B-4EF9-9691-F95D97A8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76625"/>
            <a:ext cx="4953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Местные нормы и ассортимент</a:t>
            </a:r>
          </a:p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Потребность растений в поливе</a:t>
            </a:r>
          </a:p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Оценка тени и условий участка</a:t>
            </a:r>
          </a:p>
          <a:p xmlns:a="http://schemas.openxmlformats.org/drawingml/2006/main">
            <a:pPr>
              <a:def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02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Интерфейс на английском языке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</p:sld>
</file>

<file path=ppt/slides/slide1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a9d8e5602fd348d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170" y="1304256"/>
            <a:ext cx="11541659" cy="5052102"/>
          </a:xfrm>
          <a:prstGeom xmlns:a="http://schemas.openxmlformats.org/drawingml/2006/main" prst="roundRect">
            <a:avLst>
              <a:gd name="adj" fmla="val 6926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227ECECA-D19C-BF71-E687-EC21A327371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3888" y="1556279"/>
            <a:ext cx="10789619" cy="37454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rPr>
                <a:solidFill>
                  <a:schemeClr val="bg1"/>
                </a:solidFill>
              </a:rPr>
              <a:t>13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33104" y="414049"/>
            <a:ext cx="5994696" cy="55206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600">
              <a:solidFill>
                <a:schemeClr val="bg1"/>
              </a:solidFill>
            </a:endParaRP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3570B5-49A7-4419-BC73-253DE4150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4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ДЕМОНСТРАЦИЯ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3D8C92-00AC-4128-8CA5-5C889A7A7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36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Greenleaves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71AB8A-E7C3-4752-A2AA-DA2C46AB8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1047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47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Открыть участок. Рассчитать вариант.</a:t>
            </a:r>
          </a:p>
          <a:p xmlns:a="http://schemas.openxmlformats.org/drawingml/2006/main">
            <a:pPr>
              <a:defRPr sz="247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47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Изменить посадку. Проверить отказ.</a:t>
            </a:r>
          </a:p>
          <a:p xmlns:a="http://schemas.openxmlformats.org/drawingml/2006/main">
            <a:pPr>
              <a:defRPr sz="2475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475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Выгрузить DXF и отчёт.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F1F4C9-695C-4095-8E48-EDEF5A49E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1066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rustamnova.github.io/greenleaves/studio/?demo=1</a:t>
            </a:r>
          </a:p>
          <a:p xmlns:a="http://schemas.openxmlformats.org/drawingml/2006/main">
            <a:pPr>
              <a:defRPr sz="1800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greenleaves-lct2026.netlify.app/studio/?demo=1</a:t>
            </a:r>
          </a:p>
          <a:p xmlns:a="http://schemas.openxmlformats.org/drawingml/2006/main">
            <a:pPr>
              <a:defRPr sz="1800" b="0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github.com/rustamnova/greenleaves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2026-09-28T14:26:24.5800000Z</dcterms:created>
  <dcterms:modified xsi:type="dcterms:W3CDTF">2026-09-28T14:26:24.5800000Z</dcterms:modified>
</coreProperties>
</file>