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Версия для предварительного обсуждения, 29.09.2026. Название проекта: Greenleaves. Пользователь подтвердил ФИО и роли двух участников. Город, организации, фотографии и личные контакты не предоставлены. Источник оформления: официальный шаблон https://mostech-cloud.mos.ru/apps/ditdocuments/s/bnxfqRnTp3c7eke?fileId=435975367 , исходный слайд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Продукт и функции: https://github.com/rustamnova/greenleaves , site/studio/engine.js, scripts/cli.mjs. 29.09.2026 пользователь подтвердил состав: Полянский Егор Борисович — капитан, маркетинг и IT-проекты; Абсалямов Рустам Мунирович — разработка, инженер и IT-проекты. Город и организации не указаны. Исходный обязательный слайд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Сохраняется исходная структура пяти карточек обязательного слайда 9. Известны два участника, поэтому три карточки не обозначают вымышленных людей. Полные ФИО и роли подтверждены пользователем 29.09.2026. Фотографии, город, контакты в мессенджере, телефоны и организации не предоставлены. GitHub-идентификаторы приведены вместо неподтверждённых мессенджеров.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История и мотивация: предоставленная пользователем переписка и задачи. Не утверждаем участие команды в прошлых хакатонах. Текущий реальный прогон пока блокируется пустыми REGION. Исходный обязательный слайд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Реализован детерминированный алгоритм без обученной нейросети. Расстояния пока проектные допущения. Бизнес-модель и экономический эффект не проверены. Исходный обязательный слайд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/>
          <a:lstStyle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sz="1600" b="0"/>
              <a:t>Номер и название задачи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/>
          <a:lstStyle>
            <a:lvl1pPr>
              <a:buNone/>
              <a:defRPr/>
            </a:lvl1pPr>
          </a:lstStyle>
          <a:p>
            <a:r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/>
            </a:lvl1pPr>
          </a:lstStyle>
          <a:p>
            <a:r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buNone/>
            </a:pPr>
            <a:r>
              <a:t>Роль в команде</a:t>
            </a:r>
          </a:p>
          <a:p>
            <a:pPr lvl="0">
              <a:buNone/>
            </a:pPr>
            <a:r>
              <a:t>Telegram</a:t>
            </a:r>
          </a:p>
          <a:p>
            <a:pPr lvl="0">
              <a:buNone/>
            </a:pPr>
            <a:r>
              <a:t>Номер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t>29.09.2026</a:t>
            </a:fld>
            <a:endParaRPr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t>29.09.2026</a:t>
            </a:fld>
            <a:endParaRPr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t>29.09.2026</a:t>
            </a:fld>
            <a:endParaRPr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t>29.09.2026</a:t>
            </a:fld>
            <a:endParaRPr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t>29.09.2026</a:t>
            </a:fld>
            <a:endParaRPr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BAB2196-A440-4E25-B9FF-D0ADB01B1A15}" type="datetime1">
              <a:t>29.09.2026</a:t>
            </a:fld>
            <a:endParaRPr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/>
          <a:lstStyle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buNone/>
              <a:defRPr sz="1400"/>
            </a:lvl2pPr>
          </a:lstStyle>
          <a:p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06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Решение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None/>
              <a:defRPr sz="1400"/>
            </a:lvl1pPr>
          </a:lstStyle>
          <a:p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>
            <a:off x="4244694" y="1870413"/>
            <a:ext cx="686698" cy="0"/>
          </a:xfrm>
          <a:prstGeom prst="straightConnector1">
            <a:avLst/>
          </a:prstGeom>
          <a:ln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>
            <a:off x="4244694" y="4094630"/>
            <a:ext cx="686698" cy="0"/>
          </a:xfrm>
          <a:prstGeom prst="straightConnector1">
            <a:avLst/>
          </a:prstGeom>
          <a:ln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>
            <a:off x="7250583" y="1870413"/>
            <a:ext cx="686698" cy="0"/>
          </a:xfrm>
          <a:prstGeom prst="straightConnector1">
            <a:avLst/>
          </a:prstGeom>
          <a:ln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>
            <a:off x="7250583" y="4094630"/>
            <a:ext cx="686698" cy="0"/>
          </a:xfrm>
          <a:prstGeom prst="straightConnector1">
            <a:avLst/>
          </a:prstGeom>
          <a:ln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idx="28"/>
          </p:nvPr>
        </p:nvSpPr>
        <p:spPr/>
        <p:txBody>
          <a:bodyPr/>
          <a:lstStyle/>
          <a:p>
            <a:fld id="{9D490EE5-ED7D-46E8-8345-A78A0CB0F4A4}" type="datetime1">
              <a:t>29.09.2026</a:t>
            </a:fld>
            <a:endParaRPr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idx="29"/>
          </p:nvPr>
        </p:nvSpPr>
        <p:spPr/>
        <p:txBody>
          <a:bodyPr/>
          <a:lstStyle/>
          <a:p>
            <a:endParaRPr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idx="30"/>
          </p:nvPr>
        </p:nvSpPr>
        <p:spPr/>
        <p:txBody>
          <a:bodyPr/>
          <a:lstStyle/>
          <a:p>
            <a:fld id="{52DCC5B9-D646-4B76-891F-6FF4E74E9CB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t>29.09.2026</a:t>
            </a:fld>
            <a:endParaRPr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Образец заголовка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anchor="b">
            <a:noAutofit/>
          </a:bodyPr>
          <a:lstStyle/>
          <a:p>
            <a:r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Образец текста</a:t>
            </a:r>
          </a:p>
          <a:p>
            <a:pPr lvl="1">
              <a:buNone/>
            </a:pPr>
            <a:r>
              <a:t>Второй уровень</a:t>
            </a:r>
          </a:p>
          <a:p>
            <a:pPr lvl="2">
              <a:buNone/>
            </a:pPr>
            <a:r>
              <a:t>Третий уровень</a:t>
            </a:r>
          </a:p>
          <a:p>
            <a:pPr lvl="3">
              <a:buNone/>
            </a:pPr>
            <a:r>
              <a:t>Четвертый уровень</a:t>
            </a:r>
          </a:p>
          <a:p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t>29.09.2026</a:t>
            </a:fld>
            <a:endParaRPr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hdr="0" ftr="0" dt="0"/>
  <p:txStyles>
    <p:titleStyle>
      <a:lvl1pPr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buNone/>
              <a:defRPr sz="42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2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GREENLEAVES</a:t>
            </a:r>
            <a:endParaRPr sz="480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  <a:defRPr sz="187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Эскиз озеленения на основе CAD</a:t>
            </a:r>
            <a:endParaRPr/>
          </a:p>
          <a:p>
            <a:pPr indent="268288">
              <a:buNone/>
              <a:defRPr sz="1875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Задача № 3 ДПиООС Москвы</a:t>
            </a:r>
            <a:endParaRPr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noGrp="1"/>
          </p:cNvSpPr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75E3997-2B44-4328-8DA5-4873CAFE03AE}"/>
              </a:ext>
            </a:extLst>
          </p:cNvPr>
          <p:cNvSpPr>
            <a:spLocks noGrp="1"/>
          </p:cNvSpPr>
          <p:nvPr/>
        </p:nvSpPr>
        <p:spPr>
          <a:xfrm>
            <a:off x="523875" y="59055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</a:t>
            </a:r>
            <a:r>
              <a:rPr sz="2325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32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Greenleaves</a:t>
            </a:r>
            <a:endParaRPr sz="2325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>
              <a:defRPr sz="23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325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ЛЦТ 2026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noGrp="1"/>
          </p:cNvSpPr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noGrp="1"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noGrp="1"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Одно вычислительное ядро в браузере и CLI. Повторная проверка каждой правки. Объяснения отказов и сохранение исходных CAD-объектов.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noGrp="1"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Капитан</a:t>
            </a:r>
            <a:r>
              <a:rPr b="1"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Полянский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Егор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Борисович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Кол-во</a:t>
            </a:r>
            <a:r>
              <a:rPr b="1" dirty="0">
                <a:solidFill>
                  <a:schemeClr val="tx1"/>
                </a:solidFill>
              </a:rPr>
              <a:t> </a:t>
            </a:r>
            <a:r>
              <a:rPr b="1" dirty="0" err="1">
                <a:solidFill>
                  <a:schemeClr val="tx1"/>
                </a:solidFill>
              </a:rPr>
              <a:t>участников</a:t>
            </a:r>
            <a:r>
              <a:rPr b="1" dirty="0">
                <a:solidFill>
                  <a:schemeClr val="tx1"/>
                </a:solidFill>
              </a:rPr>
              <a:t>: </a:t>
            </a:r>
            <a:r>
              <a:rPr dirty="0">
                <a:solidFill>
                  <a:schemeClr val="tx1"/>
                </a:solidFill>
              </a:rPr>
              <a:t>2 </a:t>
            </a:r>
            <a:r>
              <a:rPr dirty="0" err="1">
                <a:solidFill>
                  <a:schemeClr val="tx1"/>
                </a:solidFill>
              </a:rPr>
              <a:t>человека</a:t>
            </a:r>
            <a:endParaRPr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dirty="0" err="1">
                <a:solidFill>
                  <a:schemeClr val="tx1"/>
                </a:solidFill>
              </a:rPr>
              <a:t>Краткое</a:t>
            </a:r>
            <a:r>
              <a:rPr b="1" dirty="0">
                <a:solidFill>
                  <a:schemeClr val="tx1"/>
                </a:solidFill>
              </a:rPr>
              <a:t> </a:t>
            </a:r>
            <a:r>
              <a:rPr b="1" dirty="0" err="1">
                <a:solidFill>
                  <a:schemeClr val="tx1"/>
                </a:solidFill>
              </a:rPr>
              <a:t>описание</a:t>
            </a:r>
            <a:r>
              <a:rPr b="1" dirty="0">
                <a:solidFill>
                  <a:schemeClr val="tx1"/>
                </a:solidFill>
              </a:rPr>
              <a:t>: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П</a:t>
            </a:r>
            <a:r>
              <a:rPr i="1" dirty="0" err="1">
                <a:solidFill>
                  <a:schemeClr val="tx1"/>
                </a:solidFill>
              </a:rPr>
              <a:t>роект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i="1" dirty="0" err="1">
                <a:solidFill>
                  <a:schemeClr val="tx1"/>
                </a:solidFill>
              </a:rPr>
              <a:t>комлексного</a:t>
            </a:r>
            <a:r>
              <a:rPr lang="ru-RU" i="1" dirty="0">
                <a:solidFill>
                  <a:schemeClr val="tx1"/>
                </a:solidFill>
              </a:rPr>
              <a:t> озеленения, учитывающий  подземные </a:t>
            </a:r>
            <a:r>
              <a:rPr lang="ru-RU" i="1" dirty="0" err="1">
                <a:solidFill>
                  <a:schemeClr val="tx1"/>
                </a:solidFill>
              </a:rPr>
              <a:t>коммуникаци</a:t>
            </a:r>
            <a:r>
              <a:rPr lang="ru-RU" i="1" dirty="0">
                <a:solidFill>
                  <a:schemeClr val="tx1"/>
                </a:solidFill>
              </a:rPr>
              <a:t> </a:t>
            </a:r>
            <a:r>
              <a:rPr lang="ru-RU" b="1" i="1" dirty="0">
                <a:solidFill>
                  <a:schemeClr val="tx1"/>
                </a:solidFill>
              </a:rPr>
              <a:t>Г. Москва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noGrp="1"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pPr>
              <a:def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70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GREENLEAVES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511BE84D-C42F-4813-8063-F40198313333}"/>
              </a:ext>
            </a:extLst>
          </p:cNvPr>
          <p:cNvSpPr>
            <a:spLocks noGrp="1"/>
          </p:cNvSpPr>
          <p:nvPr/>
        </p:nv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5F9734DB-396D-4971-BB53-D2CD436719C9}"/>
              </a:ext>
            </a:extLst>
          </p:cNvPr>
          <p:cNvSpPr>
            <a:spLocks noGrp="1"/>
          </p:cNvSpPr>
          <p:nvPr/>
        </p:nv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28390EC1-851B-4C33-8B44-7FBA58AC6BDD}"/>
              </a:ext>
            </a:extLst>
          </p:cNvPr>
          <p:cNvSpPr>
            <a:spLocks noGrp="1"/>
          </p:cNvSpPr>
          <p:nvPr/>
        </p:nv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noGrp="1"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noGrp="1"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Редактируемый эскиз посадок из DXF. Проектировщик проверяет слои, получает варианты и выгружает план с координатами растений.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noGrp="1"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noGrp="1"/>
          </p:cNvSpPr>
          <p:nvPr/>
        </p:nvSpPr>
        <p:spPr>
          <a:xfrm>
            <a:off x="8339358" y="3318521"/>
            <a:ext cx="2152902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 lnSpcReduction="10000"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lang="ru-RU" sz="1500" b="1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Полянский Егор Борисович</a:t>
            </a:r>
          </a:p>
          <a:p>
            <a:pPr>
              <a:spcBef>
                <a:spcPts val="600"/>
              </a:spcBef>
              <a:buFont typeface="Arial"/>
              <a:buChar char="•"/>
            </a:pPr>
            <a:endParaRPr lang="ru-RU" sz="1200" dirty="0">
              <a:solidFill>
                <a:schemeClr val="bg1"/>
              </a:solidFill>
            </a:endParaRPr>
          </a:p>
          <a:p>
            <a:pPr>
              <a:spcBef>
                <a:spcPts val="600"/>
              </a:spcBef>
              <a:buFont typeface="Arial"/>
              <a:buChar char="•"/>
            </a:pPr>
            <a:r>
              <a:rPr sz="1200" dirty="0" err="1">
                <a:solidFill>
                  <a:schemeClr val="bg1"/>
                </a:solidFill>
              </a:rPr>
              <a:t>Капитан</a:t>
            </a:r>
            <a:r>
              <a:rPr sz="1200" dirty="0">
                <a:solidFill>
                  <a:schemeClr val="bg1"/>
                </a:solidFill>
              </a:rPr>
              <a:t> · </a:t>
            </a:r>
            <a:r>
              <a:rPr sz="1200" dirty="0" err="1">
                <a:solidFill>
                  <a:schemeClr val="bg1"/>
                </a:solidFill>
              </a:rPr>
              <a:t>маркетинг</a:t>
            </a:r>
            <a:endParaRPr sz="12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 dirty="0">
                <a:solidFill>
                  <a:schemeClr val="bg1"/>
                </a:solidFill>
              </a:rPr>
              <a:t>IT-</a:t>
            </a:r>
            <a:r>
              <a:rPr sz="1200" dirty="0" err="1">
                <a:solidFill>
                  <a:schemeClr val="bg1"/>
                </a:solidFill>
              </a:rPr>
              <a:t>проекты</a:t>
            </a:r>
            <a:endParaRPr sz="12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 dirty="0">
                <a:solidFill>
                  <a:schemeClr val="bg1"/>
                </a:solidFill>
              </a:rPr>
              <a:t>GitHub: Pro-polyanskiy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sz="1200" dirty="0" err="1">
                <a:solidFill>
                  <a:schemeClr val="bg1"/>
                </a:solidFill>
              </a:rPr>
              <a:t>Телефон</a:t>
            </a:r>
            <a:r>
              <a:rPr sz="1200" dirty="0">
                <a:solidFill>
                  <a:schemeClr val="bg1"/>
                </a:solidFill>
              </a:rPr>
              <a:t>: </a:t>
            </a:r>
            <a:r>
              <a:rPr lang="ru-RU" sz="1200" dirty="0">
                <a:solidFill>
                  <a:schemeClr val="bg1"/>
                </a:solidFill>
              </a:rPr>
              <a:t>7 985 908 86 80</a:t>
            </a:r>
          </a:p>
          <a:p>
            <a:pPr>
              <a:spcBef>
                <a:spcPts val="0"/>
              </a:spcBef>
              <a:buFont typeface="Arial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Tg</a:t>
            </a:r>
            <a:r>
              <a:rPr lang="en-US" sz="1200" dirty="0">
                <a:solidFill>
                  <a:schemeClr val="bg1"/>
                </a:solidFill>
              </a:rPr>
              <a:t> @pro_polyanskiy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noGrp="1"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Полянский</a:t>
            </a:r>
          </a:p>
          <a:p>
            <a:pPr marL="0" indent="0">
              <a:buNone/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Егор Борисович</a:t>
            </a: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noGrp="1"/>
          </p:cNvSpPr>
          <p:nvPr/>
        </p:nvSpPr>
        <p:spPr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endParaRPr/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noGrp="1"/>
          </p:cNvSpPr>
          <p:nvPr/>
        </p:nvSpPr>
        <p:spPr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endParaRPr/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noGrp="1"/>
          </p:cNvSpPr>
          <p:nvPr/>
        </p:nvSpPr>
        <p:spPr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endParaRPr/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31E851-BC2A-6169-11C3-F32E84E9A358}"/>
              </a:ext>
            </a:extLst>
          </p:cNvPr>
          <p:cNvPicPr>
            <a:picLocks noGrp="1" noChangeAspect="1"/>
          </p:cNvPicPr>
          <p:nvPr>
            <p:ph type="pic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51" r="15951"/>
          <a:stretch>
            <a:fillRect/>
          </a:stretch>
        </p:blipFill>
        <p:spPr>
          <a:xfrm>
            <a:off x="2837265" y="1522007"/>
            <a:ext cx="5363264" cy="4834351"/>
          </a:xfrm>
          <a:prstGeom prst="rect">
            <a:avLst/>
          </a:prstGeo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КОМАНДА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804082" y="4096735"/>
            <a:ext cx="2223871" cy="1624612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 dirty="0" err="1">
                <a:solidFill>
                  <a:schemeClr val="bg1"/>
                </a:solidFill>
              </a:rPr>
              <a:t>Разработка</a:t>
            </a:r>
            <a:r>
              <a:rPr sz="1200" dirty="0">
                <a:solidFill>
                  <a:schemeClr val="bg1"/>
                </a:solidFill>
              </a:rPr>
              <a:t> · </a:t>
            </a:r>
            <a:r>
              <a:rPr sz="1200" dirty="0" err="1">
                <a:solidFill>
                  <a:schemeClr val="bg1"/>
                </a:solidFill>
              </a:rPr>
              <a:t>инженер</a:t>
            </a:r>
            <a:endParaRPr sz="12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 dirty="0">
                <a:solidFill>
                  <a:schemeClr val="bg1"/>
                </a:solidFill>
              </a:rPr>
              <a:t>IT-</a:t>
            </a:r>
            <a:r>
              <a:rPr sz="1200" dirty="0" err="1">
                <a:solidFill>
                  <a:schemeClr val="bg1"/>
                </a:solidFill>
              </a:rPr>
              <a:t>проекты</a:t>
            </a:r>
            <a:endParaRPr sz="12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 dirty="0">
                <a:solidFill>
                  <a:schemeClr val="bg1"/>
                </a:solidFill>
              </a:rPr>
              <a:t>GitHub: </a:t>
            </a:r>
            <a:r>
              <a:rPr sz="1200" dirty="0" err="1">
                <a:solidFill>
                  <a:schemeClr val="bg1"/>
                </a:solidFill>
              </a:rPr>
              <a:t>rustamnova</a:t>
            </a:r>
            <a:endParaRPr sz="1200" dirty="0">
              <a:solidFill>
                <a:schemeClr val="bg1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sz="1200" dirty="0" err="1">
                <a:solidFill>
                  <a:schemeClr val="bg1"/>
                </a:solidFill>
              </a:rPr>
              <a:t>Телефон</a:t>
            </a:r>
            <a:r>
              <a:rPr sz="1200" dirty="0">
                <a:solidFill>
                  <a:schemeClr val="bg1"/>
                </a:solidFill>
              </a:rPr>
              <a:t>: </a:t>
            </a:r>
            <a:r>
              <a:rPr lang="ru-RU" sz="1200" dirty="0"/>
              <a:t>7 927 636 6363</a:t>
            </a:r>
            <a:endParaRPr lang="en-US" sz="1200" dirty="0"/>
          </a:p>
          <a:p>
            <a:pPr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200" dirty="0" err="1">
                <a:solidFill>
                  <a:schemeClr val="bg1"/>
                </a:solidFill>
              </a:rPr>
              <a:t>Tg</a:t>
            </a:r>
            <a:r>
              <a:rPr lang="en-US" sz="1200" dirty="0">
                <a:solidFill>
                  <a:schemeClr val="bg1"/>
                </a:solidFill>
              </a:rPr>
              <a:t> @rustamlemo</a:t>
            </a:r>
            <a:endParaRPr sz="1200" dirty="0">
              <a:solidFill>
                <a:schemeClr val="bg1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noGrp="1"/>
          </p:cNvSpPr>
          <p:nvPr/>
        </p:nvSpPr>
        <p:spPr>
          <a:xfrm>
            <a:off x="1042947" y="3468825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buNone/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Абсалямов</a:t>
            </a:r>
            <a:endParaRPr sz="1350" b="1" dirty="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  <a:p>
            <a:pPr marL="0" indent="0">
              <a:buNone/>
              <a:defRPr sz="13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35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Рустам</a:t>
            </a:r>
            <a:r>
              <a:rPr sz="1350" b="1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1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Мунирович</a:t>
            </a:r>
            <a:endParaRPr sz="1350" b="1" dirty="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РАЗРАБОТКА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533606" y="1602273"/>
            <a:ext cx="10558463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dirty="0" err="1">
                <a:solidFill>
                  <a:schemeClr val="tx1"/>
                </a:solidFill>
              </a:rPr>
              <a:t>Егор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подготовил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первый</a:t>
            </a:r>
            <a:r>
              <a:rPr dirty="0">
                <a:solidFill>
                  <a:schemeClr val="tx1"/>
                </a:solidFill>
              </a:rPr>
              <a:t> Python MVP. 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 err="1">
                <a:solidFill>
                  <a:schemeClr val="tx1"/>
                </a:solidFill>
              </a:rPr>
              <a:t>Мы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сохранили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его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для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аудита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развили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проект</a:t>
            </a:r>
            <a:r>
              <a:rPr dirty="0">
                <a:solidFill>
                  <a:schemeClr val="tx1"/>
                </a:solidFill>
              </a:rPr>
              <a:t> в </a:t>
            </a:r>
            <a:r>
              <a:rPr dirty="0" err="1">
                <a:solidFill>
                  <a:schemeClr val="tx1"/>
                </a:solidFill>
              </a:rPr>
              <a:t>браузерную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студию</a:t>
            </a:r>
            <a:r>
              <a:rPr dirty="0">
                <a:solidFill>
                  <a:schemeClr val="tx1"/>
                </a:solidFill>
              </a:rPr>
              <a:t> с </a:t>
            </a:r>
            <a:r>
              <a:rPr dirty="0" err="1">
                <a:solidFill>
                  <a:schemeClr val="tx1"/>
                </a:solidFill>
              </a:rPr>
              <a:t>общим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ядром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расчёта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noGrp="1"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noGrp="1"/>
          </p:cNvSpPr>
          <p:nvPr/>
        </p:nvSpPr>
        <p:spPr>
          <a:xfrm>
            <a:off x="533607" y="5139255"/>
            <a:ext cx="8361915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dirty="0" err="1">
                <a:solidFill>
                  <a:schemeClr val="tx1"/>
                </a:solidFill>
              </a:rPr>
              <a:t>Главный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вызов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сложные</a:t>
            </a:r>
            <a:r>
              <a:rPr dirty="0">
                <a:solidFill>
                  <a:schemeClr val="tx1"/>
                </a:solidFill>
              </a:rPr>
              <a:t> CAD-</a:t>
            </a:r>
            <a:r>
              <a:rPr dirty="0" err="1">
                <a:solidFill>
                  <a:schemeClr val="tx1"/>
                </a:solidFill>
              </a:rPr>
              <a:t>файлы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неполная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геометрия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после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конвертации</a:t>
            </a:r>
            <a:r>
              <a:rPr dirty="0">
                <a:solidFill>
                  <a:schemeClr val="tx1"/>
                </a:solidFill>
              </a:rPr>
              <a:t>. 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 err="1">
                <a:solidFill>
                  <a:schemeClr val="tx1"/>
                </a:solidFill>
              </a:rPr>
              <a:t>Добавили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обработку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блоков</a:t>
            </a:r>
            <a:r>
              <a:rPr dirty="0">
                <a:solidFill>
                  <a:schemeClr val="tx1"/>
                </a:solidFill>
              </a:rPr>
              <a:t> и </a:t>
            </a:r>
            <a:r>
              <a:rPr dirty="0" err="1">
                <a:solidFill>
                  <a:schemeClr val="tx1"/>
                </a:solidFill>
              </a:rPr>
              <a:t>диагностику</a:t>
            </a:r>
            <a:r>
              <a:rPr dirty="0">
                <a:solidFill>
                  <a:schemeClr val="tx1"/>
                </a:solidFill>
              </a:rPr>
              <a:t>. </a:t>
            </a:r>
            <a:r>
              <a:rPr dirty="0" err="1">
                <a:solidFill>
                  <a:schemeClr val="tx1"/>
                </a:solidFill>
              </a:rPr>
              <a:t>При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потере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существенных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объектов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расчёт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останавливается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noGrp="1"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b="1" dirty="0">
                <a:solidFill>
                  <a:schemeClr val="accent5"/>
                </a:solidFill>
              </a:rPr>
              <a:t>С </a:t>
            </a:r>
            <a:r>
              <a:rPr b="1" dirty="0" err="1">
                <a:solidFill>
                  <a:schemeClr val="accent5"/>
                </a:solidFill>
              </a:rPr>
              <a:t>какими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основными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сложностями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или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вызовами</a:t>
            </a:r>
            <a:r>
              <a:rPr b="1" dirty="0">
                <a:solidFill>
                  <a:schemeClr val="accent5"/>
                </a:solidFill>
              </a:rPr>
              <a:t> </a:t>
            </a:r>
            <a:br>
              <a:rPr dirty="0"/>
            </a:br>
            <a:r>
              <a:rPr b="1" dirty="0" err="1">
                <a:solidFill>
                  <a:schemeClr val="accent5"/>
                </a:solidFill>
              </a:rPr>
              <a:t>вы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столкнулись</a:t>
            </a:r>
            <a:r>
              <a:rPr b="1" dirty="0">
                <a:solidFill>
                  <a:schemeClr val="accent5"/>
                </a:solidFill>
              </a:rPr>
              <a:t> и </a:t>
            </a:r>
            <a:r>
              <a:rPr b="1" dirty="0" err="1">
                <a:solidFill>
                  <a:schemeClr val="accent5"/>
                </a:solidFill>
              </a:rPr>
              <a:t>как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их</a:t>
            </a:r>
            <a:r>
              <a:rPr b="1" dirty="0">
                <a:solidFill>
                  <a:schemeClr val="accent5"/>
                </a:solidFill>
              </a:rPr>
              <a:t> </a:t>
            </a:r>
            <a:r>
              <a:rPr b="1" dirty="0" err="1">
                <a:solidFill>
                  <a:schemeClr val="accent5"/>
                </a:solidFill>
              </a:rPr>
              <a:t>преодолели</a:t>
            </a:r>
            <a:r>
              <a:rPr b="1" dirty="0">
                <a:solidFill>
                  <a:schemeClr val="accent5"/>
                </a:solidFill>
              </a:rPr>
              <a:t>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noGrp="1"/>
          </p:cNvSpPr>
          <p:nvPr/>
        </p:nvSpPr>
        <p:spPr>
          <a:xfrm>
            <a:off x="493651" y="3348900"/>
            <a:ext cx="7775706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dirty="0" err="1">
                <a:solidFill>
                  <a:schemeClr val="tx1"/>
                </a:solidFill>
              </a:rPr>
              <a:t>Хотим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помогать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проектировщикам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находить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места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для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озеленения</a:t>
            </a:r>
            <a:r>
              <a:rPr dirty="0">
                <a:solidFill>
                  <a:schemeClr val="tx1"/>
                </a:solidFill>
              </a:rPr>
              <a:t> в </a:t>
            </a:r>
            <a:r>
              <a:rPr dirty="0" err="1">
                <a:solidFill>
                  <a:schemeClr val="tx1"/>
                </a:solidFill>
              </a:rPr>
              <a:t>плотной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городской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среде</a:t>
            </a:r>
            <a:r>
              <a:rPr dirty="0">
                <a:solidFill>
                  <a:schemeClr val="tx1"/>
                </a:solidFill>
              </a:rPr>
              <a:t>. 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dirty="0" err="1">
                <a:solidFill>
                  <a:schemeClr val="tx1"/>
                </a:solidFill>
              </a:rPr>
              <a:t>После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московского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пилота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планируем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изучить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применение</a:t>
            </a:r>
            <a:r>
              <a:rPr dirty="0">
                <a:solidFill>
                  <a:schemeClr val="tx1"/>
                </a:solidFill>
              </a:rPr>
              <a:t> в </a:t>
            </a:r>
            <a:r>
              <a:rPr dirty="0" err="1">
                <a:solidFill>
                  <a:schemeClr val="tx1"/>
                </a:solidFill>
              </a:rPr>
              <a:t>Дубае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noGrp="1"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/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AC8B061-0589-46FD-B25B-38331CD5D0F4}"/>
              </a:ext>
            </a:extLst>
          </p:cNvPr>
          <p:cNvSpPr>
            <a:spLocks noGrp="1"/>
          </p:cNvSpPr>
          <p:nvPr/>
        </p:nv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9E752EE-009F-45C6-A9AE-8AAE65EF3644}"/>
              </a:ext>
            </a:extLst>
          </p:cNvPr>
          <p:cNvSpPr>
            <a:spLocks noGrp="1"/>
          </p:cNvSpPr>
          <p:nvPr/>
        </p:nv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CA0BDD1D-5D8C-4FB5-BB06-1F169AFF77A4}"/>
              </a:ext>
            </a:extLst>
          </p:cNvPr>
          <p:cNvSpPr>
            <a:spLocks noGrp="1"/>
          </p:cNvSpPr>
          <p:nvPr/>
        </p:nv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noGrp="1"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noGrp="1"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noGrp="1"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>
            <a:normAutofit/>
          </a:bodyPr>
          <a:lstStyle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211284"/>
            <a:ext cx="5440313" cy="2997034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211283"/>
            <a:ext cx="5440313" cy="2997033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89493" y="1920928"/>
            <a:ext cx="4929861" cy="1935456"/>
          </a:xfrm>
        </p:spPr>
        <p:txBody>
          <a:bodyPr>
            <a:normAutofit lnSpcReduction="10000"/>
          </a:bodyPr>
          <a:lstStyle/>
          <a:p>
            <a:pPr marL="228600" indent="-127000">
              <a:spcAft>
                <a:spcPts val="1800"/>
              </a:spcAft>
              <a:buChar char="•"/>
            </a:pP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Подготовка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CAD с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внешними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ссылками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вложенными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блоками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228600" indent="-127000">
              <a:spcAft>
                <a:spcPts val="1800"/>
              </a:spcAft>
              <a:buChar char="•"/>
            </a:pP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Геометрический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алгоритм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учитывает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контур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препятствия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расстояния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между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растениями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228600" indent="-127000">
              <a:spcAft>
                <a:spcPts val="1800"/>
              </a:spcAft>
              <a:buChar char="•"/>
            </a:pP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Пользователь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редактирует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эскиз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получает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DXF,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ведомость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журнал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проверок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228600" indent="-127000">
              <a:spcAft>
                <a:spcPts val="1800"/>
              </a:spcAft>
              <a:buChar char="•"/>
            </a:pP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Первый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сценарий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помощник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проектировщика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московских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улиц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228600" indent="-127000">
              <a:spcAft>
                <a:spcPts val="1800"/>
              </a:spcAft>
              <a:buChar char="•"/>
            </a:pP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Следующий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этап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пилот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с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экспертом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измерение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времени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подготовки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вариантов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  <a:p>
            <a:pPr marL="228600" indent="-127000">
              <a:spcAft>
                <a:spcPts val="1800"/>
              </a:spcAft>
              <a:buChar char="•"/>
            </a:pPr>
            <a:r>
              <a:rPr lang="ru-RU"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Масштабирование: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Дубай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lang="ru-RU"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как перспективный следующий этап (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рассматриваем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отдельно</a:t>
            </a:r>
            <a:r>
              <a:rPr lang="ru-RU"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)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: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местные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правила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ассортимент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тень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расход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500" dirty="0" err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воды</a:t>
            </a:r>
            <a:r>
              <a:rPr sz="1500" dirty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.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513513" y="1476584"/>
            <a:ext cx="5214724" cy="444344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sz="2000" b="1" dirty="0" err="1">
                <a:solidFill>
                  <a:schemeClr val="accent5"/>
                </a:solidFill>
              </a:rPr>
              <a:t>Маркетинговая</a:t>
            </a:r>
            <a:r>
              <a:rPr sz="2000" b="1" dirty="0">
                <a:solidFill>
                  <a:schemeClr val="accent5"/>
                </a:solidFill>
              </a:rPr>
              <a:t> </a:t>
            </a:r>
            <a:r>
              <a:rPr sz="2000" b="1" dirty="0" err="1">
                <a:solidFill>
                  <a:schemeClr val="accent5"/>
                </a:solidFill>
              </a:rPr>
              <a:t>суть</a:t>
            </a:r>
            <a:r>
              <a:rPr sz="2000" b="1" dirty="0">
                <a:solidFill>
                  <a:schemeClr val="accent5"/>
                </a:solidFill>
              </a:rPr>
              <a:t> </a:t>
            </a:r>
            <a:r>
              <a:rPr sz="2000" b="1" dirty="0" err="1">
                <a:solidFill>
                  <a:schemeClr val="accent5"/>
                </a:solidFill>
              </a:rPr>
              <a:t>решения</a:t>
            </a:r>
            <a:endParaRPr sz="2000" b="1" dirty="0">
              <a:solidFill>
                <a:schemeClr val="accent5"/>
              </a:solidFill>
            </a:endParaRPr>
          </a:p>
          <a:p>
            <a:pPr>
              <a:lnSpc>
                <a:spcPct val="100000"/>
              </a:lnSpc>
              <a:buNone/>
            </a:pPr>
            <a:endParaRPr lang="en-US" b="1" dirty="0">
              <a:solidFill>
                <a:schemeClr val="accent5"/>
              </a:solidFill>
            </a:endParaRPr>
          </a:p>
          <a:p>
            <a:pPr>
              <a:lnSpc>
                <a:spcPct val="100000"/>
              </a:lnSpc>
              <a:buNone/>
            </a:pPr>
            <a:endParaRPr b="1" dirty="0">
              <a:solidFill>
                <a:schemeClr val="accent5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B1FBE1A-16B4-C530-7B17-A71B63C0D030}"/>
              </a:ext>
            </a:extLst>
          </p:cNvPr>
          <p:cNvSpPr>
            <a:spLocks noGrp="1"/>
          </p:cNvSpPr>
          <p:nvPr/>
        </p:nvSpPr>
        <p:spPr>
          <a:xfrm>
            <a:off x="428588" y="4546529"/>
            <a:ext cx="4762500" cy="603387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77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</a:t>
            </a:r>
            <a:r>
              <a:rPr sz="2775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77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берёт</a:t>
            </a:r>
            <a:r>
              <a:rPr sz="2775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77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</a:t>
            </a:r>
            <a:r>
              <a:rPr sz="2775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77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себя</a:t>
            </a:r>
            <a:r>
              <a:rPr lang="ru-RU" sz="2775" b="1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775" b="1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Greenleaves</a:t>
            </a:r>
            <a:endParaRPr sz="2775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DD340F-E03D-932B-FB7E-96201506440D}"/>
              </a:ext>
            </a:extLst>
          </p:cNvPr>
          <p:cNvSpPr>
            <a:spLocks noGrp="1"/>
          </p:cNvSpPr>
          <p:nvPr/>
        </p:nvSpPr>
        <p:spPr>
          <a:xfrm>
            <a:off x="504184" y="5069630"/>
            <a:ext cx="4953000" cy="145548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Предварительная</a:t>
            </a:r>
            <a:r>
              <a:rPr sz="21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расстановка</a:t>
            </a:r>
            <a:endParaRPr sz="21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>
              <a:def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Проверка</a:t>
            </a:r>
            <a:r>
              <a:rPr sz="21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расстояний</a:t>
            </a:r>
            <a:endParaRPr sz="21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>
              <a:def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Объяснение</a:t>
            </a:r>
            <a:r>
              <a:rPr sz="21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отклонений</a:t>
            </a:r>
            <a:endParaRPr sz="21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  <a:p>
            <a:pPr>
              <a:defRPr sz="21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Редактируемый</a:t>
            </a:r>
            <a:r>
              <a:rPr sz="2100" b="0" dirty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100" b="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результат</a:t>
            </a:r>
            <a:endParaRPr sz="2100" b="0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6A5FDBE-1CD7-F04E-F52D-F9B3CB9208EE}"/>
              </a:ext>
            </a:extLst>
          </p:cNvPr>
          <p:cNvSpPr>
            <a:spLocks noGrp="1"/>
          </p:cNvSpPr>
          <p:nvPr/>
        </p:nvSpPr>
        <p:spPr>
          <a:xfrm>
            <a:off x="6306378" y="5089903"/>
            <a:ext cx="9727585" cy="13247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Полная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геометрия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пилота</a:t>
            </a:r>
            <a:endParaRPr sz="2025" b="0" dirty="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  <a:p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Нормативная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матрица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с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источниками</a:t>
            </a:r>
            <a:endParaRPr sz="2025" b="0" dirty="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  <a:p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Открытие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результата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в CAD</a:t>
            </a:r>
          </a:p>
          <a:p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Измерение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качества</a:t>
            </a:r>
            <a:r>
              <a:rPr sz="2025" b="0" dirty="0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 с </a:t>
            </a:r>
            <a:r>
              <a:rPr sz="2025" b="0" dirty="0" err="1"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экспертом</a:t>
            </a:r>
            <a:endParaRPr sz="2025" b="0" dirty="0">
              <a:solidFill>
                <a:schemeClr val="bg1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noGrp="1"/>
          </p:cNvSpPr>
          <p:nvPr/>
        </p:nvSpPr>
        <p:spPr>
          <a:xfrm>
            <a:off x="1292609" y="1262973"/>
            <a:ext cx="8709500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D3D7D1C8-AE23-AA48-DF65-C742588DBE47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2006" y="426045"/>
            <a:ext cx="7438079" cy="1142230"/>
          </a:xfrm>
        </p:spPr>
        <p:txBody>
          <a:bodyPr/>
          <a:lstStyle/>
          <a:p>
            <a:r>
              <a:rPr lang="ru-RU" sz="2400" dirty="0">
                <a:solidFill>
                  <a:srgbClr val="FFFFFF"/>
                </a:solidFill>
              </a:rPr>
              <a:t>РАБОЧАЯ СТУДИЯ</a:t>
            </a:r>
            <a:br>
              <a:rPr lang="ru-RU" sz="2400" dirty="0">
                <a:solidFill>
                  <a:srgbClr val="FFFFFF"/>
                </a:solidFill>
              </a:rPr>
            </a:b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D836187-5B91-4809-97BD-E34C4A435DEE}"/>
              </a:ext>
            </a:extLst>
          </p:cNvPr>
          <p:cNvSpPr>
            <a:spLocks noGrp="1"/>
          </p:cNvSpPr>
          <p:nvPr/>
        </p:nvSpPr>
        <p:spPr>
          <a:xfrm>
            <a:off x="974863" y="905754"/>
            <a:ext cx="57150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endParaRPr sz="2400" b="1" dirty="0">
              <a:solidFill>
                <a:srgbClr val="FFFFFF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CB1DCFED-B53E-4C31-A237-3D1591184A85}"/>
              </a:ext>
            </a:extLst>
          </p:cNvPr>
          <p:cNvSpPr>
            <a:spLocks noGrp="1"/>
          </p:cNvSpPr>
          <p:nvPr/>
        </p:nvSpPr>
        <p:spPr>
          <a:xfrm>
            <a:off x="2859678" y="1338796"/>
            <a:ext cx="108585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 dirty="0" err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Расчёт</a:t>
            </a:r>
            <a:r>
              <a:rPr sz="2250" b="1" dirty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, </a:t>
            </a:r>
            <a:r>
              <a:rPr sz="2250" b="1" dirty="0" err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правки</a:t>
            </a:r>
            <a:r>
              <a:rPr sz="2250" b="1" dirty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 и </a:t>
            </a:r>
            <a:r>
              <a:rPr sz="2250" b="1" dirty="0" err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экспорт</a:t>
            </a:r>
            <a:r>
              <a:rPr sz="2250" b="1" dirty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 в </a:t>
            </a:r>
            <a:r>
              <a:rPr sz="2250" b="1" dirty="0" err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браузере</a:t>
            </a:r>
            <a:endParaRPr sz="2250" b="1" dirty="0">
              <a:solidFill>
                <a:srgbClr val="520978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32" name="Рисунок 3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878495" y="1805804"/>
            <a:ext cx="7345907" cy="4134613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63644830-0C86-4470-9608-800508E6D4EB}"/>
              </a:ext>
            </a:extLst>
          </p:cNvPr>
          <p:cNvSpPr>
            <a:spLocks noGrp="1"/>
          </p:cNvSpPr>
          <p:nvPr/>
        </p:nvSpPr>
        <p:spPr>
          <a:xfrm>
            <a:off x="3434717" y="5952246"/>
            <a:ext cx="10858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35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Синтетический</a:t>
            </a:r>
            <a:r>
              <a:rPr sz="135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пример</a:t>
            </a:r>
            <a:r>
              <a:rPr sz="135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· </a:t>
            </a:r>
            <a:r>
              <a:rPr sz="135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требуется</a:t>
            </a:r>
            <a:r>
              <a:rPr sz="135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проверка</a:t>
            </a:r>
            <a:r>
              <a:rPr sz="1350" b="0" dirty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 </a:t>
            </a:r>
            <a:r>
              <a:rPr sz="1350" b="0" dirty="0" err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экспертом</a:t>
            </a:r>
            <a:endParaRPr sz="1350" b="0" dirty="0">
              <a:solidFill>
                <a:srgbClr val="310F53"/>
              </a:solidFill>
              <a:latin typeface="Montserrat"/>
              <a:ea typeface="Montserrat"/>
              <a:cs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595</Words>
  <Application>Microsoft Office PowerPoint</Application>
  <DocSecurity>0</DocSecurity>
  <PresentationFormat>Широкоэкранный</PresentationFormat>
  <Paragraphs>76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Montserrat</vt:lpstr>
      <vt:lpstr>Wingdings</vt:lpstr>
      <vt:lpstr>Для Академия инноваторов 16_9</vt:lpstr>
      <vt:lpstr>GREENLEAVES</vt:lpstr>
      <vt:lpstr>GREENLEAVES</vt:lpstr>
      <vt:lpstr>КОМАНДА</vt:lpstr>
      <vt:lpstr>РАЗРАБОТКА</vt:lpstr>
      <vt:lpstr>КОРОТКО О РЕШЕНИИ</vt:lpstr>
      <vt:lpstr>РАБОЧАЯ СТУДИЯ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лена полянская</cp:lastModifiedBy>
  <cp:revision>2</cp:revision>
  <dcterms:created xsi:type="dcterms:W3CDTF">2026-09-29T14:08:57Z</dcterms:created>
  <dcterms:modified xsi:type="dcterms:W3CDTF">2026-09-29T20:40:54Z</dcterms:modified>
</cp:coreProperties>
</file>